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(1 min). Introduce the team and the project name. Say: our system helps indie artists plan a comeback campaign without a big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Thousands of tracks drop every day. Indie artists have no team. Normal AI tools make generic, robotic captions that push niche fans away, and can also make mistakes or leak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Explain each agent in one sentence. The Orchestrator is the controller, not a 4th agent. It decides who works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Walk left to right: User, Planner, Orchestrator, Execution. Then down to Review. FIX loop goes back to Execution, max 2 rounds. Then Human Approval, then Final Output. The purple bar is the governance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Each skill file has the same parts: purpose, when to use, when NOT to use, inputs, workflow, tools, rules, output, error handling. Show one quickly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LIVE DEMO or screenshots. Inputs: sample artist Mira Sol, single Late Bloom, release Fri Nov 27 2026. Show the timeline, then the first draft with problems, the NEEDS FIX review, the fixed draft, PASS, then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One sentence for each column. GOVERN = rules and who is responsible. MAP = what can go wrong. MEASURE = numbers we check. MANAGE = what we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Pick the main risks. Say each rule has a place where it is enforced. Full tables are in the report (5+ risks and 5+ rules required; we have 7 risks and 6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Mention a few test cases and what they prove. Then explain the human gate: the AI never approves for the human, and nothing exports without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Summary and thank you.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2E"/>
        </a:solidFill>
      </p:bgPr>
    </p:bg>
    <p:spTree>
      <p:nvGrpSpPr>
        <p:cNvPr id="1" name=""/>
        <p:cNvGrpSpPr/>
        <p:nvPr/>
      </p:nvGrpSpPr>
      <p:grpSpPr>
        <a:xfrm>
          <a:off x="0" y="0"/>
          <a:ext cx="0" cy="0"/>
          <a:chOff x="0" y="0"/>
          <a:chExt cx="0" cy="0"/>
        </a:xfrm>
      </p:grpSpPr>
      <p:sp>
        <p:nvSpPr>
          <p:cNvPr id="3" name="Text 0"/>
          <p:cNvSpPr txBox="1"/>
          <p:nvPr/>
        </p:nvSpPr>
        <p:spPr>
          <a:xfrm>
            <a:off x="731520" y="1463040"/>
            <a:ext cx="10058400" cy="365760"/>
          </a:xfrm>
          <a:prstGeom prst="rect">
            <a:avLst/>
          </a:prstGeom>
          <a:noFill/>
          <a:ln/>
        </p:spPr>
        <p:txBody>
          <a:bodyPr wrap="square" lIns="0" tIns="0" rIns="0" bIns="0" rtlCol="0" anchor="ctr"/>
          <a:lstStyle/>
          <a:p>
            <a:pPr indent="0" marL="0">
              <a:buNone/>
            </a:pPr>
            <a:r>
              <a:rPr lang="en-US" sz="1600" b="1" spc="300" kern="0" dirty="0">
                <a:solidFill>
                  <a:srgbClr val="FF6B5A"/>
                </a:solidFill>
                <a:latin typeface="Calibri" pitchFamily="34" charset="0"/>
                <a:ea typeface="Calibri" pitchFamily="34" charset="-122"/>
                <a:cs typeface="Calibri" pitchFamily="34" charset="-120"/>
              </a:rPr>
              <a:t>SIP10 – FINAL PROJECT</a:t>
            </a:r>
            <a:endParaRPr lang="en-US" sz="1600" dirty="0"/>
          </a:p>
        </p:txBody>
      </p:sp>
      <p:sp>
        <p:nvSpPr>
          <p:cNvPr id="4" name="Text 1"/>
          <p:cNvSpPr txBox="1"/>
          <p:nvPr/>
        </p:nvSpPr>
        <p:spPr>
          <a:xfrm>
            <a:off x="731520" y="1920240"/>
            <a:ext cx="10515600" cy="164592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Independent Artist Comeback Campaign Engine</a:t>
            </a:r>
            <a:endParaRPr lang="en-US" sz="4800" dirty="0"/>
          </a:p>
        </p:txBody>
      </p:sp>
      <p:sp>
        <p:nvSpPr>
          <p:cNvPr id="5" name="Text 2"/>
          <p:cNvSpPr txBox="1"/>
          <p:nvPr/>
        </p:nvSpPr>
        <p:spPr>
          <a:xfrm>
            <a:off x="731520" y="3749040"/>
            <a:ext cx="10058400" cy="731520"/>
          </a:xfrm>
          <a:prstGeom prst="rect">
            <a:avLst/>
          </a:prstGeom>
          <a:noFill/>
          <a:ln/>
        </p:spPr>
        <p:txBody>
          <a:bodyPr wrap="square" lIns="0" tIns="0" rIns="0" bIns="0" rtlCol="0" anchor="ctr"/>
          <a:lstStyle/>
          <a:p>
            <a:pPr indent="0" marL="0">
              <a:buNone/>
            </a:pPr>
            <a:r>
              <a:rPr lang="en-US" sz="2000" dirty="0">
                <a:solidFill>
                  <a:srgbClr val="C9B8FF"/>
                </a:solidFill>
                <a:latin typeface="Calibri" pitchFamily="34" charset="0"/>
                <a:ea typeface="Calibri" pitchFamily="34" charset="-122"/>
                <a:cs typeface="Calibri" pitchFamily="34" charset="-120"/>
              </a:rPr>
              <a:t>A simple governed agentic AI system: Plan &gt; Orchestrate &gt; Execute &gt; Check &gt; Human Approval &gt; Output</a:t>
            </a:r>
            <a:endParaRPr lang="en-US" sz="2000" dirty="0"/>
          </a:p>
        </p:txBody>
      </p:sp>
      <p:sp>
        <p:nvSpPr>
          <p:cNvPr id="6" name="Text 3"/>
          <p:cNvSpPr txBox="1"/>
          <p:nvPr/>
        </p:nvSpPr>
        <p:spPr>
          <a:xfrm>
            <a:off x="731520" y="5669280"/>
            <a:ext cx="10515600" cy="365760"/>
          </a:xfrm>
          <a:prstGeom prst="rect">
            <a:avLst/>
          </a:prstGeom>
          <a:noFill/>
          <a:ln/>
        </p:spPr>
        <p:txBody>
          <a:bodyPr wrap="square" lIns="0" tIns="0" rIns="0" bIns="0" rtlCol="0" anchor="ctr"/>
          <a:lstStyle/>
          <a:p>
            <a:pPr indent="0" marL="0">
              <a:buNone/>
            </a:pPr>
            <a:r>
              <a:rPr lang="en-US" sz="1400" dirty="0">
                <a:solidFill>
                  <a:srgbClr val="BBBBBB"/>
                </a:solidFill>
                <a:latin typeface="Calibri" pitchFamily="34" charset="0"/>
                <a:ea typeface="Calibri" pitchFamily="34" charset="-122"/>
                <a:cs typeface="Calibri" pitchFamily="34" charset="-120"/>
              </a:rPr>
              <a:t>Team: [add names here]   |   Agentic AI + AI Governance + AI Orchestration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822960"/>
          </a:xfrm>
          <a:prstGeom prst="rect">
            <a:avLst/>
          </a:prstGeom>
          <a:noFill/>
          <a:ln/>
        </p:spPr>
        <p:txBody>
          <a:bodyPr wrap="square" lIns="0" tIns="0" rIns="0" bIns="0" rtlCol="0" anchor="ctr"/>
          <a:lstStyle/>
          <a:p>
            <a:pPr indent="0" marL="0">
              <a:buNone/>
            </a:pPr>
            <a:r>
              <a:rPr lang="en-US" sz="3200" b="1" dirty="0">
                <a:solidFill>
                  <a:srgbClr val="1B1A2E"/>
                </a:solidFill>
                <a:latin typeface="Georgia" pitchFamily="34" charset="0"/>
                <a:ea typeface="Georgia" pitchFamily="34" charset="-122"/>
                <a:cs typeface="Georgia" pitchFamily="34" charset="-120"/>
              </a:rPr>
              <a:t>The problem: comebacks are hard to run alone</a:t>
            </a:r>
            <a:endParaRPr lang="en-US" sz="3200" dirty="0"/>
          </a:p>
        </p:txBody>
      </p:sp>
      <p:sp>
        <p:nvSpPr>
          <p:cNvPr id="4" name="Shape 1"/>
          <p:cNvSpPr/>
          <p:nvPr/>
        </p:nvSpPr>
        <p:spPr>
          <a:xfrm>
            <a:off x="548640" y="1554480"/>
            <a:ext cx="3566160" cy="4206240"/>
          </a:xfrm>
          <a:prstGeom prst="roundRect">
            <a:avLst>
              <a:gd name="adj" fmla="val 3077"/>
            </a:avLst>
          </a:prstGeom>
          <a:solidFill>
            <a:srgbClr val="FFFFFF"/>
          </a:solidFill>
          <a:ln w="25400">
            <a:solidFill>
              <a:srgbClr val="FF6B5A"/>
            </a:solidFill>
            <a:prstDash val="solid"/>
          </a:ln>
        </p:spPr>
      </p:sp>
      <p:sp>
        <p:nvSpPr>
          <p:cNvPr id="5" name="Shape 2"/>
          <p:cNvSpPr/>
          <p:nvPr/>
        </p:nvSpPr>
        <p:spPr>
          <a:xfrm>
            <a:off x="548640" y="1554480"/>
            <a:ext cx="3566160" cy="640080"/>
          </a:xfrm>
          <a:prstGeom prst="roundRect">
            <a:avLst>
              <a:gd name="adj" fmla="val 17143"/>
            </a:avLst>
          </a:prstGeom>
          <a:solidFill>
            <a:srgbClr val="FF6B5A"/>
          </a:solidFill>
          <a:ln w="12700">
            <a:solidFill>
              <a:srgbClr val="FF6B5A"/>
            </a:solidFill>
            <a:prstDash val="solid"/>
          </a:ln>
        </p:spPr>
      </p:sp>
      <p:sp>
        <p:nvSpPr>
          <p:cNvPr id="6" name="Text 3"/>
          <p:cNvSpPr txBox="1"/>
          <p:nvPr/>
        </p:nvSpPr>
        <p:spPr>
          <a:xfrm>
            <a:off x="685800" y="1554480"/>
            <a:ext cx="3291840" cy="6400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Too much noise</a:t>
            </a:r>
            <a:endParaRPr lang="en-US" sz="1800" dirty="0"/>
          </a:p>
        </p:txBody>
      </p:sp>
      <p:sp>
        <p:nvSpPr>
          <p:cNvPr id="7" name="Text 4"/>
          <p:cNvSpPr txBox="1"/>
          <p:nvPr/>
        </p:nvSpPr>
        <p:spPr>
          <a:xfrm>
            <a:off x="731520" y="2331720"/>
            <a:ext cx="3200400" cy="3291840"/>
          </a:xfrm>
          <a:prstGeom prst="rect">
            <a:avLst/>
          </a:prstGeom>
          <a:noFill/>
          <a:ln/>
        </p:spPr>
        <p:txBody>
          <a:bodyPr wrap="square" lIns="0" tIns="0" rIns="0" bIns="0" rtlCol="0" anchor="t"/>
          <a:lstStyle/>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Thousands of tracks are released every day.</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Just uploading a song is not enough.</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Artists need a multi-week plan.</a:t>
            </a:r>
            <a:endParaRPr lang="en-US" sz="1400" dirty="0"/>
          </a:p>
        </p:txBody>
      </p:sp>
      <p:sp>
        <p:nvSpPr>
          <p:cNvPr id="8" name="Shape 5"/>
          <p:cNvSpPr/>
          <p:nvPr/>
        </p:nvSpPr>
        <p:spPr>
          <a:xfrm>
            <a:off x="4297680" y="1554480"/>
            <a:ext cx="3566160" cy="4206240"/>
          </a:xfrm>
          <a:prstGeom prst="roundRect">
            <a:avLst>
              <a:gd name="adj" fmla="val 3077"/>
            </a:avLst>
          </a:prstGeom>
          <a:solidFill>
            <a:srgbClr val="FFFFFF"/>
          </a:solidFill>
          <a:ln w="25400">
            <a:solidFill>
              <a:srgbClr val="1B1A2E"/>
            </a:solidFill>
            <a:prstDash val="solid"/>
          </a:ln>
        </p:spPr>
      </p:sp>
      <p:sp>
        <p:nvSpPr>
          <p:cNvPr id="9" name="Shape 6"/>
          <p:cNvSpPr/>
          <p:nvPr/>
        </p:nvSpPr>
        <p:spPr>
          <a:xfrm>
            <a:off x="4297680" y="1554480"/>
            <a:ext cx="3566160" cy="640080"/>
          </a:xfrm>
          <a:prstGeom prst="roundRect">
            <a:avLst>
              <a:gd name="adj" fmla="val 17143"/>
            </a:avLst>
          </a:prstGeom>
          <a:solidFill>
            <a:srgbClr val="1B1A2E"/>
          </a:solidFill>
          <a:ln w="12700">
            <a:solidFill>
              <a:srgbClr val="1B1A2E"/>
            </a:solidFill>
            <a:prstDash val="solid"/>
          </a:ln>
        </p:spPr>
      </p:sp>
      <p:sp>
        <p:nvSpPr>
          <p:cNvPr id="10" name="Text 7"/>
          <p:cNvSpPr txBox="1"/>
          <p:nvPr/>
        </p:nvSpPr>
        <p:spPr>
          <a:xfrm>
            <a:off x="4434840" y="1554480"/>
            <a:ext cx="3291840" cy="6400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No label team</a:t>
            </a:r>
            <a:endParaRPr lang="en-US" sz="1800" dirty="0"/>
          </a:p>
        </p:txBody>
      </p:sp>
      <p:sp>
        <p:nvSpPr>
          <p:cNvPr id="11" name="Text 8"/>
          <p:cNvSpPr txBox="1"/>
          <p:nvPr/>
        </p:nvSpPr>
        <p:spPr>
          <a:xfrm>
            <a:off x="4480560" y="2331720"/>
            <a:ext cx="3200400" cy="3291840"/>
          </a:xfrm>
          <a:prstGeom prst="rect">
            <a:avLst/>
          </a:prstGeom>
          <a:noFill/>
          <a:ln/>
        </p:spPr>
        <p:txBody>
          <a:bodyPr wrap="square" lIns="0" tIns="0" rIns="0" bIns="0" rtlCol="0" anchor="t"/>
          <a:lstStyle/>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Solo artists have no manager, planner, or marketing team.</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They do it all alone and on a small budget.</a:t>
            </a:r>
            <a:endParaRPr lang="en-US" sz="1400" dirty="0"/>
          </a:p>
        </p:txBody>
      </p:sp>
      <p:sp>
        <p:nvSpPr>
          <p:cNvPr id="12" name="Shape 9"/>
          <p:cNvSpPr/>
          <p:nvPr/>
        </p:nvSpPr>
        <p:spPr>
          <a:xfrm>
            <a:off x="8046720" y="1554480"/>
            <a:ext cx="3566160" cy="4206240"/>
          </a:xfrm>
          <a:prstGeom prst="roundRect">
            <a:avLst>
              <a:gd name="adj" fmla="val 3077"/>
            </a:avLst>
          </a:prstGeom>
          <a:solidFill>
            <a:srgbClr val="FFFFFF"/>
          </a:solidFill>
          <a:ln w="25400">
            <a:solidFill>
              <a:srgbClr val="2E8B6E"/>
            </a:solidFill>
            <a:prstDash val="solid"/>
          </a:ln>
        </p:spPr>
      </p:sp>
      <p:sp>
        <p:nvSpPr>
          <p:cNvPr id="13" name="Shape 10"/>
          <p:cNvSpPr/>
          <p:nvPr/>
        </p:nvSpPr>
        <p:spPr>
          <a:xfrm>
            <a:off x="8046720" y="1554480"/>
            <a:ext cx="3566160" cy="640080"/>
          </a:xfrm>
          <a:prstGeom prst="roundRect">
            <a:avLst>
              <a:gd name="adj" fmla="val 17143"/>
            </a:avLst>
          </a:prstGeom>
          <a:solidFill>
            <a:srgbClr val="2E8B6E"/>
          </a:solidFill>
          <a:ln w="12700">
            <a:solidFill>
              <a:srgbClr val="2E8B6E"/>
            </a:solidFill>
            <a:prstDash val="solid"/>
          </a:ln>
        </p:spPr>
      </p:sp>
      <p:sp>
        <p:nvSpPr>
          <p:cNvPr id="14" name="Text 11"/>
          <p:cNvSpPr txBox="1"/>
          <p:nvPr/>
        </p:nvSpPr>
        <p:spPr>
          <a:xfrm>
            <a:off x="8183880" y="1554480"/>
            <a:ext cx="3291840" cy="6400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Generic AI hurts</a:t>
            </a:r>
            <a:endParaRPr lang="en-US" sz="1800" dirty="0"/>
          </a:p>
        </p:txBody>
      </p:sp>
      <p:sp>
        <p:nvSpPr>
          <p:cNvPr id="15" name="Text 12"/>
          <p:cNvSpPr txBox="1"/>
          <p:nvPr/>
        </p:nvSpPr>
        <p:spPr>
          <a:xfrm>
            <a:off x="8229600" y="2331720"/>
            <a:ext cx="3200400" cy="3291840"/>
          </a:xfrm>
          <a:prstGeom prst="rect">
            <a:avLst/>
          </a:prstGeom>
          <a:noFill/>
          <a:ln/>
        </p:spPr>
        <p:txBody>
          <a:bodyPr wrap="square" lIns="0" tIns="0" rIns="0" bIns="0" rtlCol="0" anchor="t"/>
          <a:lstStyle/>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Normal AI output sounds robotic or too corporate.</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It can add wrong dates, fake claims, or leaks.</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Niche fans notice, and leave.</a:t>
            </a:r>
            <a:endParaRPr lang="en-US" sz="1400" dirty="0"/>
          </a:p>
        </p:txBody>
      </p:sp>
      <p:sp>
        <p:nvSpPr>
          <p:cNvPr id="16" name="Text 13"/>
          <p:cNvSpPr txBox="1"/>
          <p:nvPr/>
        </p:nvSpPr>
        <p:spPr>
          <a:xfrm>
            <a:off x="548640" y="6035040"/>
            <a:ext cx="10972800" cy="457200"/>
          </a:xfrm>
          <a:prstGeom prst="rect">
            <a:avLst/>
          </a:prstGeom>
          <a:noFill/>
          <a:ln/>
        </p:spPr>
        <p:txBody>
          <a:bodyPr wrap="square" lIns="0" tIns="0" rIns="0" bIns="0" rtlCol="0" anchor="ctr"/>
          <a:lstStyle/>
          <a:p>
            <a:pPr indent="0" marL="0">
              <a:buNone/>
            </a:pPr>
            <a:r>
              <a:rPr lang="en-US" sz="1800" b="1" dirty="0">
                <a:solidFill>
                  <a:srgbClr val="1B1A2E"/>
                </a:solidFill>
                <a:latin typeface="Calibri" pitchFamily="34" charset="0"/>
                <a:ea typeface="Calibri" pitchFamily="34" charset="-122"/>
                <a:cs typeface="Calibri" pitchFamily="34" charset="-120"/>
              </a:rPr>
              <a:t>Our answer: a governed team of 3 AI agents with a human in control.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822960"/>
          </a:xfrm>
          <a:prstGeom prst="rect">
            <a:avLst/>
          </a:prstGeom>
          <a:noFill/>
          <a:ln/>
        </p:spPr>
        <p:txBody>
          <a:bodyPr wrap="square" lIns="0" tIns="0" rIns="0" bIns="0" rtlCol="0" anchor="ctr"/>
          <a:lstStyle/>
          <a:p>
            <a:pPr indent="0" marL="0">
              <a:buNone/>
            </a:pPr>
            <a:r>
              <a:rPr lang="en-US" sz="3200" b="1" dirty="0">
                <a:solidFill>
                  <a:srgbClr val="1B1A2E"/>
                </a:solidFill>
                <a:latin typeface="Georgia" pitchFamily="34" charset="0"/>
                <a:ea typeface="Georgia" pitchFamily="34" charset="-122"/>
                <a:cs typeface="Georgia" pitchFamily="34" charset="-120"/>
              </a:rPr>
              <a:t>Our system: 3 agents + an Orchestrator</a:t>
            </a:r>
            <a:endParaRPr lang="en-US" sz="3200" dirty="0"/>
          </a:p>
        </p:txBody>
      </p:sp>
      <p:sp>
        <p:nvSpPr>
          <p:cNvPr id="4" name="Shape 1"/>
          <p:cNvSpPr/>
          <p:nvPr/>
        </p:nvSpPr>
        <p:spPr>
          <a:xfrm>
            <a:off x="548640" y="1554480"/>
            <a:ext cx="3566160" cy="3566160"/>
          </a:xfrm>
          <a:prstGeom prst="roundRect">
            <a:avLst>
              <a:gd name="adj" fmla="val 3077"/>
            </a:avLst>
          </a:prstGeom>
          <a:solidFill>
            <a:srgbClr val="FFFFFF"/>
          </a:solidFill>
          <a:ln w="25400">
            <a:solidFill>
              <a:srgbClr val="FF6B5A"/>
            </a:solidFill>
            <a:prstDash val="solid"/>
          </a:ln>
        </p:spPr>
      </p:sp>
      <p:sp>
        <p:nvSpPr>
          <p:cNvPr id="5" name="Shape 2"/>
          <p:cNvSpPr/>
          <p:nvPr/>
        </p:nvSpPr>
        <p:spPr>
          <a:xfrm>
            <a:off x="548640" y="1554480"/>
            <a:ext cx="3566160" cy="640080"/>
          </a:xfrm>
          <a:prstGeom prst="roundRect">
            <a:avLst>
              <a:gd name="adj" fmla="val 17143"/>
            </a:avLst>
          </a:prstGeom>
          <a:solidFill>
            <a:srgbClr val="FF6B5A"/>
          </a:solidFill>
          <a:ln w="12700">
            <a:solidFill>
              <a:srgbClr val="FF6B5A"/>
            </a:solidFill>
            <a:prstDash val="solid"/>
          </a:ln>
        </p:spPr>
      </p:sp>
      <p:sp>
        <p:nvSpPr>
          <p:cNvPr id="6" name="Text 3"/>
          <p:cNvSpPr txBox="1"/>
          <p:nvPr/>
        </p:nvSpPr>
        <p:spPr>
          <a:xfrm>
            <a:off x="685800" y="1554480"/>
            <a:ext cx="3291840" cy="6400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1. Planner Agent</a:t>
            </a:r>
            <a:endParaRPr lang="en-US" sz="1800" dirty="0"/>
          </a:p>
        </p:txBody>
      </p:sp>
      <p:sp>
        <p:nvSpPr>
          <p:cNvPr id="7" name="Text 4"/>
          <p:cNvSpPr txBox="1"/>
          <p:nvPr/>
        </p:nvSpPr>
        <p:spPr>
          <a:xfrm>
            <a:off x="731520" y="2331720"/>
            <a:ext cx="3200400" cy="2651760"/>
          </a:xfrm>
          <a:prstGeom prst="rect">
            <a:avLst/>
          </a:prstGeom>
          <a:noFill/>
          <a:ln/>
        </p:spPr>
        <p:txBody>
          <a:bodyPr wrap="square" lIns="0" tIns="0" rIns="0" bIns="0" rtlCol="0" anchor="t"/>
          <a:lstStyle/>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Builds the 4-week release calendar and the phases: announce, teaser, pre-save, countdown, drop day.</a:t>
            </a:r>
            <a:endParaRPr lang="en-US" sz="1400" dirty="0"/>
          </a:p>
          <a:p>
            <a:pPr indent="0" marL="0">
              <a:spcAft>
                <a:spcPts val="600"/>
              </a:spcAft>
              <a:buNone/>
            </a:pP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Skill: planner-skill</a:t>
            </a:r>
            <a:endParaRPr lang="en-US" sz="1400" dirty="0"/>
          </a:p>
        </p:txBody>
      </p:sp>
      <p:sp>
        <p:nvSpPr>
          <p:cNvPr id="8" name="Shape 5"/>
          <p:cNvSpPr/>
          <p:nvPr/>
        </p:nvSpPr>
        <p:spPr>
          <a:xfrm>
            <a:off x="4297680" y="1554480"/>
            <a:ext cx="3566160" cy="3566160"/>
          </a:xfrm>
          <a:prstGeom prst="roundRect">
            <a:avLst>
              <a:gd name="adj" fmla="val 3077"/>
            </a:avLst>
          </a:prstGeom>
          <a:solidFill>
            <a:srgbClr val="FFFFFF"/>
          </a:solidFill>
          <a:ln w="25400">
            <a:solidFill>
              <a:srgbClr val="FF6B5A"/>
            </a:solidFill>
            <a:prstDash val="solid"/>
          </a:ln>
        </p:spPr>
      </p:sp>
      <p:sp>
        <p:nvSpPr>
          <p:cNvPr id="9" name="Shape 6"/>
          <p:cNvSpPr/>
          <p:nvPr/>
        </p:nvSpPr>
        <p:spPr>
          <a:xfrm>
            <a:off x="4297680" y="1554480"/>
            <a:ext cx="3566160" cy="640080"/>
          </a:xfrm>
          <a:prstGeom prst="roundRect">
            <a:avLst>
              <a:gd name="adj" fmla="val 17143"/>
            </a:avLst>
          </a:prstGeom>
          <a:solidFill>
            <a:srgbClr val="FF6B5A"/>
          </a:solidFill>
          <a:ln w="12700">
            <a:solidFill>
              <a:srgbClr val="FF6B5A"/>
            </a:solidFill>
            <a:prstDash val="solid"/>
          </a:ln>
        </p:spPr>
      </p:sp>
      <p:sp>
        <p:nvSpPr>
          <p:cNvPr id="10" name="Text 7"/>
          <p:cNvSpPr txBox="1"/>
          <p:nvPr/>
        </p:nvSpPr>
        <p:spPr>
          <a:xfrm>
            <a:off x="4434840" y="1554480"/>
            <a:ext cx="3291840" cy="6400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2. Execution Agent</a:t>
            </a:r>
            <a:endParaRPr lang="en-US" sz="1800" dirty="0"/>
          </a:p>
        </p:txBody>
      </p:sp>
      <p:sp>
        <p:nvSpPr>
          <p:cNvPr id="11" name="Text 8"/>
          <p:cNvSpPr txBox="1"/>
          <p:nvPr/>
        </p:nvSpPr>
        <p:spPr>
          <a:xfrm>
            <a:off x="4480560" y="2331720"/>
            <a:ext cx="3200400" cy="2651760"/>
          </a:xfrm>
          <a:prstGeom prst="rect">
            <a:avLst/>
          </a:prstGeom>
          <a:noFill/>
          <a:ln/>
        </p:spPr>
        <p:txBody>
          <a:bodyPr wrap="square" lIns="0" tIns="0" rIns="0" bIns="0" rtlCol="0" anchor="t"/>
          <a:lstStyle/>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Writes hooks, captions, hashtags, visual prompts, and press snippets in the artist's vibe.</a:t>
            </a:r>
            <a:endParaRPr lang="en-US" sz="1400" dirty="0"/>
          </a:p>
          <a:p>
            <a:pPr indent="0" marL="0">
              <a:spcAft>
                <a:spcPts val="600"/>
              </a:spcAft>
              <a:buNone/>
            </a:pP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Skill: execution-skill</a:t>
            </a:r>
            <a:endParaRPr lang="en-US" sz="1400" dirty="0"/>
          </a:p>
        </p:txBody>
      </p:sp>
      <p:sp>
        <p:nvSpPr>
          <p:cNvPr id="12" name="Shape 9"/>
          <p:cNvSpPr/>
          <p:nvPr/>
        </p:nvSpPr>
        <p:spPr>
          <a:xfrm>
            <a:off x="8046720" y="1554480"/>
            <a:ext cx="3566160" cy="3566160"/>
          </a:xfrm>
          <a:prstGeom prst="roundRect">
            <a:avLst>
              <a:gd name="adj" fmla="val 3077"/>
            </a:avLst>
          </a:prstGeom>
          <a:solidFill>
            <a:srgbClr val="FFFFFF"/>
          </a:solidFill>
          <a:ln w="25400">
            <a:solidFill>
              <a:srgbClr val="FF6B5A"/>
            </a:solidFill>
            <a:prstDash val="solid"/>
          </a:ln>
        </p:spPr>
      </p:sp>
      <p:sp>
        <p:nvSpPr>
          <p:cNvPr id="13" name="Shape 10"/>
          <p:cNvSpPr/>
          <p:nvPr/>
        </p:nvSpPr>
        <p:spPr>
          <a:xfrm>
            <a:off x="8046720" y="1554480"/>
            <a:ext cx="3566160" cy="640080"/>
          </a:xfrm>
          <a:prstGeom prst="roundRect">
            <a:avLst>
              <a:gd name="adj" fmla="val 17143"/>
            </a:avLst>
          </a:prstGeom>
          <a:solidFill>
            <a:srgbClr val="FF6B5A"/>
          </a:solidFill>
          <a:ln w="12700">
            <a:solidFill>
              <a:srgbClr val="FF6B5A"/>
            </a:solidFill>
            <a:prstDash val="solid"/>
          </a:ln>
        </p:spPr>
      </p:sp>
      <p:sp>
        <p:nvSpPr>
          <p:cNvPr id="14" name="Text 11"/>
          <p:cNvSpPr txBox="1"/>
          <p:nvPr/>
        </p:nvSpPr>
        <p:spPr>
          <a:xfrm>
            <a:off x="8183880" y="1554480"/>
            <a:ext cx="3291840" cy="6400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3. Review &amp; Compliance</a:t>
            </a:r>
            <a:endParaRPr lang="en-US" sz="1800" dirty="0"/>
          </a:p>
        </p:txBody>
      </p:sp>
      <p:sp>
        <p:nvSpPr>
          <p:cNvPr id="15" name="Text 12"/>
          <p:cNvSpPr txBox="1"/>
          <p:nvPr/>
        </p:nvSpPr>
        <p:spPr>
          <a:xfrm>
            <a:off x="8229600" y="2331720"/>
            <a:ext cx="3200400" cy="2651760"/>
          </a:xfrm>
          <a:prstGeom prst="rect">
            <a:avLst/>
          </a:prstGeom>
          <a:noFill/>
          <a:ln/>
        </p:spPr>
        <p:txBody>
          <a:bodyPr wrap="square" lIns="0" tIns="0" rIns="0" bIns="0" rtlCol="0" anchor="t"/>
          <a:lstStyle/>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The strict brand auditor. Checks facts, tone, privacy, and platform rules. Sends notes back.</a:t>
            </a:r>
            <a:endParaRPr lang="en-US" sz="1400" dirty="0"/>
          </a:p>
          <a:p>
            <a:pPr indent="0" marL="0">
              <a:spcAft>
                <a:spcPts val="600"/>
              </a:spcAft>
              <a:buNone/>
            </a:pP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Skill: review-compliance-skill</a:t>
            </a:r>
            <a:endParaRPr lang="en-US" sz="1400" dirty="0"/>
          </a:p>
        </p:txBody>
      </p:sp>
      <p:sp>
        <p:nvSpPr>
          <p:cNvPr id="16" name="Shape 13"/>
          <p:cNvSpPr/>
          <p:nvPr/>
        </p:nvSpPr>
        <p:spPr>
          <a:xfrm>
            <a:off x="548640" y="5394960"/>
            <a:ext cx="11064240" cy="914400"/>
          </a:xfrm>
          <a:prstGeom prst="roundRect">
            <a:avLst>
              <a:gd name="adj" fmla="val 12000"/>
            </a:avLst>
          </a:prstGeom>
          <a:solidFill>
            <a:srgbClr val="1B1A2E"/>
          </a:solidFill>
          <a:ln w="12700">
            <a:solidFill>
              <a:srgbClr val="1B1A2E"/>
            </a:solidFill>
            <a:prstDash val="solid"/>
          </a:ln>
        </p:spPr>
      </p:sp>
      <p:sp>
        <p:nvSpPr>
          <p:cNvPr id="17" name="Text 14"/>
          <p:cNvSpPr txBox="1"/>
          <p:nvPr/>
        </p:nvSpPr>
        <p:spPr>
          <a:xfrm>
            <a:off x="777240" y="5394960"/>
            <a:ext cx="10607040" cy="914400"/>
          </a:xfrm>
          <a:prstGeom prst="rect">
            <a:avLst/>
          </a:prstGeom>
          <a:noFill/>
          <a:ln/>
        </p:spPr>
        <p:txBody>
          <a:bodyPr wrap="square" lIns="0" tIns="0" rIns="0" bIns="0" rtlCol="0" anchor="ctr"/>
          <a:lstStyle/>
          <a:p>
            <a:pPr indent="0" marL="0">
              <a:buNone/>
            </a:pPr>
            <a:r>
              <a:rPr lang="en-US" sz="1700" b="1" dirty="0">
                <a:solidFill>
                  <a:srgbClr val="FF6B5A"/>
                </a:solidFill>
                <a:latin typeface="Calibri" pitchFamily="34" charset="0"/>
                <a:ea typeface="Calibri" pitchFamily="34" charset="-122"/>
                <a:cs typeface="Calibri" pitchFamily="34" charset="-120"/>
              </a:rPr>
              <a:t>Orchestrator (controller): </a:t>
            </a:r>
            <a:pPr indent="0" marL="0">
              <a:buNone/>
            </a:pPr>
            <a:r>
              <a:rPr lang="en-US" sz="1700" dirty="0">
                <a:solidFill>
                  <a:srgbClr val="FFFFFF"/>
                </a:solidFill>
                <a:latin typeface="Calibri" pitchFamily="34" charset="0"/>
                <a:ea typeface="Calibri" pitchFamily="34" charset="-122"/>
                <a:cs typeface="Calibri" pitchFamily="34" charset="-120"/>
              </a:rPr>
              <a:t>decides which agent or skill works next, counts rewrite rounds, calls the human gate, and keeps the activity log.</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822960"/>
          </a:xfrm>
          <a:prstGeom prst="rect">
            <a:avLst/>
          </a:prstGeom>
          <a:noFill/>
          <a:ln/>
        </p:spPr>
        <p:txBody>
          <a:bodyPr wrap="square" lIns="0" tIns="0" rIns="0" bIns="0" rtlCol="0" anchor="ctr"/>
          <a:lstStyle/>
          <a:p>
            <a:pPr indent="0" marL="0">
              <a:buNone/>
            </a:pPr>
            <a:r>
              <a:rPr lang="en-US" sz="3200" b="1" dirty="0">
                <a:solidFill>
                  <a:srgbClr val="1B1A2E"/>
                </a:solidFill>
                <a:latin typeface="Georgia" pitchFamily="34" charset="0"/>
                <a:ea typeface="Georgia" pitchFamily="34" charset="-122"/>
                <a:cs typeface="Georgia" pitchFamily="34" charset="-120"/>
              </a:rPr>
              <a:t>System diagram and workflow</a:t>
            </a:r>
            <a:endParaRPr lang="en-US" sz="3200" dirty="0"/>
          </a:p>
        </p:txBody>
      </p:sp>
      <p:pic>
        <p:nvPicPr>
          <p:cNvPr id="4" name="Image 0" descr="preencoded.png">    </p:cNvPr>
          <p:cNvPicPr>
            <a:picLocks noChangeAspect="1"/>
          </p:cNvPicPr>
          <p:nvPr/>
        </p:nvPicPr>
        <p:blipFill>
          <a:blip r:embed="rId1"/>
          <a:srcRect l="0" r="0" t="0" b="0"/>
          <a:stretch/>
        </p:blipFill>
        <p:spPr>
          <a:xfrm>
            <a:off x="822960" y="1280160"/>
            <a:ext cx="10515600" cy="5349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822960"/>
          </a:xfrm>
          <a:prstGeom prst="rect">
            <a:avLst/>
          </a:prstGeom>
          <a:noFill/>
          <a:ln/>
        </p:spPr>
        <p:txBody>
          <a:bodyPr wrap="square" lIns="0" tIns="0" rIns="0" bIns="0" rtlCol="0" anchor="ctr"/>
          <a:lstStyle/>
          <a:p>
            <a:pPr indent="0" marL="0">
              <a:buNone/>
            </a:pPr>
            <a:r>
              <a:rPr lang="en-US" sz="3200" b="1" dirty="0">
                <a:solidFill>
                  <a:srgbClr val="1B1A2E"/>
                </a:solidFill>
                <a:latin typeface="Georgia" pitchFamily="34" charset="0"/>
                <a:ea typeface="Georgia" pitchFamily="34" charset="-122"/>
                <a:cs typeface="Georgia" pitchFamily="34" charset="-120"/>
              </a:rPr>
              <a:t>3 SKILL.md files</a:t>
            </a:r>
            <a:endParaRPr lang="en-US" sz="3200" dirty="0"/>
          </a:p>
        </p:txBody>
      </p:sp>
      <p:sp>
        <p:nvSpPr>
          <p:cNvPr id="4" name="Shape 1"/>
          <p:cNvSpPr/>
          <p:nvPr/>
        </p:nvSpPr>
        <p:spPr>
          <a:xfrm>
            <a:off x="548640" y="1554480"/>
            <a:ext cx="3566160" cy="3931920"/>
          </a:xfrm>
          <a:prstGeom prst="roundRect">
            <a:avLst>
              <a:gd name="adj" fmla="val 3077"/>
            </a:avLst>
          </a:prstGeom>
          <a:solidFill>
            <a:srgbClr val="FFFFFF"/>
          </a:solidFill>
          <a:ln w="25400">
            <a:solidFill>
              <a:srgbClr val="1B1A2E"/>
            </a:solidFill>
            <a:prstDash val="solid"/>
          </a:ln>
        </p:spPr>
      </p:sp>
      <p:sp>
        <p:nvSpPr>
          <p:cNvPr id="5" name="Shape 2"/>
          <p:cNvSpPr/>
          <p:nvPr/>
        </p:nvSpPr>
        <p:spPr>
          <a:xfrm>
            <a:off x="548640" y="1554480"/>
            <a:ext cx="3566160" cy="640080"/>
          </a:xfrm>
          <a:prstGeom prst="roundRect">
            <a:avLst>
              <a:gd name="adj" fmla="val 17143"/>
            </a:avLst>
          </a:prstGeom>
          <a:solidFill>
            <a:srgbClr val="1B1A2E"/>
          </a:solidFill>
          <a:ln w="12700">
            <a:solidFill>
              <a:srgbClr val="1B1A2E"/>
            </a:solidFill>
            <a:prstDash val="solid"/>
          </a:ln>
        </p:spPr>
      </p:sp>
      <p:sp>
        <p:nvSpPr>
          <p:cNvPr id="6" name="Text 3"/>
          <p:cNvSpPr txBox="1"/>
          <p:nvPr/>
        </p:nvSpPr>
        <p:spPr>
          <a:xfrm>
            <a:off x="685800" y="1554480"/>
            <a:ext cx="3291840" cy="6400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planner-skill</a:t>
            </a:r>
            <a:endParaRPr lang="en-US" sz="1500" dirty="0"/>
          </a:p>
        </p:txBody>
      </p:sp>
      <p:sp>
        <p:nvSpPr>
          <p:cNvPr id="7" name="Text 4"/>
          <p:cNvSpPr txBox="1"/>
          <p:nvPr/>
        </p:nvSpPr>
        <p:spPr>
          <a:xfrm>
            <a:off x="731520" y="2331720"/>
            <a:ext cx="3200400" cy="3017520"/>
          </a:xfrm>
          <a:prstGeom prst="rect">
            <a:avLst/>
          </a:prstGeom>
          <a:noFill/>
          <a:ln/>
        </p:spPr>
        <p:txBody>
          <a:bodyPr wrap="square" lIns="0" tIns="0" rIns="0" bIns="0" rtlCol="0" anchor="t"/>
          <a:lstStyle/>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Counts back from the release date.</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Week -4 to Week +1, with exact dates.</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Never changes the release date.</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Unknown items: [TO BE CONFIRMED].</a:t>
            </a:r>
            <a:endParaRPr lang="en-US" sz="1400" dirty="0"/>
          </a:p>
        </p:txBody>
      </p:sp>
      <p:sp>
        <p:nvSpPr>
          <p:cNvPr id="8" name="Shape 5"/>
          <p:cNvSpPr/>
          <p:nvPr/>
        </p:nvSpPr>
        <p:spPr>
          <a:xfrm>
            <a:off x="4297680" y="1554480"/>
            <a:ext cx="3566160" cy="3931920"/>
          </a:xfrm>
          <a:prstGeom prst="roundRect">
            <a:avLst>
              <a:gd name="adj" fmla="val 3077"/>
            </a:avLst>
          </a:prstGeom>
          <a:solidFill>
            <a:srgbClr val="FFFFFF"/>
          </a:solidFill>
          <a:ln w="25400">
            <a:solidFill>
              <a:srgbClr val="1B1A2E"/>
            </a:solidFill>
            <a:prstDash val="solid"/>
          </a:ln>
        </p:spPr>
      </p:sp>
      <p:sp>
        <p:nvSpPr>
          <p:cNvPr id="9" name="Shape 6"/>
          <p:cNvSpPr/>
          <p:nvPr/>
        </p:nvSpPr>
        <p:spPr>
          <a:xfrm>
            <a:off x="4297680" y="1554480"/>
            <a:ext cx="3566160" cy="640080"/>
          </a:xfrm>
          <a:prstGeom prst="roundRect">
            <a:avLst>
              <a:gd name="adj" fmla="val 17143"/>
            </a:avLst>
          </a:prstGeom>
          <a:solidFill>
            <a:srgbClr val="1B1A2E"/>
          </a:solidFill>
          <a:ln w="12700">
            <a:solidFill>
              <a:srgbClr val="1B1A2E"/>
            </a:solidFill>
            <a:prstDash val="solid"/>
          </a:ln>
        </p:spPr>
      </p:sp>
      <p:sp>
        <p:nvSpPr>
          <p:cNvPr id="10" name="Text 7"/>
          <p:cNvSpPr txBox="1"/>
          <p:nvPr/>
        </p:nvSpPr>
        <p:spPr>
          <a:xfrm>
            <a:off x="4434840" y="1554480"/>
            <a:ext cx="3291840" cy="6400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execution-skill</a:t>
            </a:r>
            <a:endParaRPr lang="en-US" sz="1500" dirty="0"/>
          </a:p>
        </p:txBody>
      </p:sp>
      <p:sp>
        <p:nvSpPr>
          <p:cNvPr id="11" name="Text 8"/>
          <p:cNvSpPr txBox="1"/>
          <p:nvPr/>
        </p:nvSpPr>
        <p:spPr>
          <a:xfrm>
            <a:off x="4480560" y="2331720"/>
            <a:ext cx="3200400" cy="3017520"/>
          </a:xfrm>
          <a:prstGeom prst="rect">
            <a:avLst/>
          </a:prstGeom>
          <a:noFill/>
          <a:ln/>
        </p:spPr>
        <p:txBody>
          <a:bodyPr wrap="square" lIns="0" tIns="0" rIns="0" bIns="0" rtlCol="0" anchor="t"/>
          <a:lstStyle/>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One post per milestone and platform.</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Hook + caption + 3 to 5 hashtags.</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Only facts the artist gave.</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No copied lyrics. No unreleased titles.</a:t>
            </a:r>
            <a:endParaRPr lang="en-US" sz="1400" dirty="0"/>
          </a:p>
        </p:txBody>
      </p:sp>
      <p:sp>
        <p:nvSpPr>
          <p:cNvPr id="12" name="Shape 9"/>
          <p:cNvSpPr/>
          <p:nvPr/>
        </p:nvSpPr>
        <p:spPr>
          <a:xfrm>
            <a:off x="8046720" y="1554480"/>
            <a:ext cx="3566160" cy="3931920"/>
          </a:xfrm>
          <a:prstGeom prst="roundRect">
            <a:avLst>
              <a:gd name="adj" fmla="val 3077"/>
            </a:avLst>
          </a:prstGeom>
          <a:solidFill>
            <a:srgbClr val="FFFFFF"/>
          </a:solidFill>
          <a:ln w="25400">
            <a:solidFill>
              <a:srgbClr val="1B1A2E"/>
            </a:solidFill>
            <a:prstDash val="solid"/>
          </a:ln>
        </p:spPr>
      </p:sp>
      <p:sp>
        <p:nvSpPr>
          <p:cNvPr id="13" name="Shape 10"/>
          <p:cNvSpPr/>
          <p:nvPr/>
        </p:nvSpPr>
        <p:spPr>
          <a:xfrm>
            <a:off x="8046720" y="1554480"/>
            <a:ext cx="3566160" cy="640080"/>
          </a:xfrm>
          <a:prstGeom prst="roundRect">
            <a:avLst>
              <a:gd name="adj" fmla="val 17143"/>
            </a:avLst>
          </a:prstGeom>
          <a:solidFill>
            <a:srgbClr val="1B1A2E"/>
          </a:solidFill>
          <a:ln w="12700">
            <a:solidFill>
              <a:srgbClr val="1B1A2E"/>
            </a:solidFill>
            <a:prstDash val="solid"/>
          </a:ln>
        </p:spPr>
      </p:sp>
      <p:sp>
        <p:nvSpPr>
          <p:cNvPr id="14" name="Text 11"/>
          <p:cNvSpPr txBox="1"/>
          <p:nvPr/>
        </p:nvSpPr>
        <p:spPr>
          <a:xfrm>
            <a:off x="8183880" y="1554480"/>
            <a:ext cx="3291840" cy="6400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review-compliance-skill</a:t>
            </a:r>
            <a:endParaRPr lang="en-US" sz="1500" dirty="0"/>
          </a:p>
        </p:txBody>
      </p:sp>
      <p:sp>
        <p:nvSpPr>
          <p:cNvPr id="15" name="Text 12"/>
          <p:cNvSpPr txBox="1"/>
          <p:nvPr/>
        </p:nvSpPr>
        <p:spPr>
          <a:xfrm>
            <a:off x="8229600" y="2331720"/>
            <a:ext cx="3200400" cy="3017520"/>
          </a:xfrm>
          <a:prstGeom prst="rect">
            <a:avLst/>
          </a:prstGeom>
          <a:noFill/>
          <a:ln/>
        </p:spPr>
        <p:txBody>
          <a:bodyPr wrap="square" lIns="0" tIns="0" rIns="0" bIns="0" rtlCol="0" anchor="t"/>
          <a:lstStyle/>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Checks facts, tone, privacy, platform rules.</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PASS or FIX for each check.</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If unsure: FIX.</a:t>
            </a:r>
            <a:endParaRPr lang="en-US" sz="1400" dirty="0"/>
          </a:p>
          <a:p>
            <a:pPr indent="0" marL="0">
              <a:spcAft>
                <a:spcPts val="600"/>
              </a:spcAft>
              <a:buNone/>
            </a:pPr>
            <a:r>
              <a:rPr lang="en-US" sz="1400" dirty="0">
                <a:solidFill>
                  <a:srgbClr val="1B1A2E"/>
                </a:solidFill>
                <a:latin typeface="Calibri" pitchFamily="34" charset="0"/>
                <a:ea typeface="Calibri" pitchFamily="34" charset="-122"/>
                <a:cs typeface="Calibri" pitchFamily="34" charset="-120"/>
              </a:rPr>
              <a:t>Max 2 rewrite rounds, then human decides.</a:t>
            </a:r>
            <a:endParaRPr lang="en-US" sz="1400" dirty="0"/>
          </a:p>
        </p:txBody>
      </p:sp>
      <p:sp>
        <p:nvSpPr>
          <p:cNvPr id="16" name="Text 13"/>
          <p:cNvSpPr txBox="1"/>
          <p:nvPr/>
        </p:nvSpPr>
        <p:spPr>
          <a:xfrm>
            <a:off x="548640" y="5760720"/>
            <a:ext cx="11064240" cy="640080"/>
          </a:xfrm>
          <a:prstGeom prst="rect">
            <a:avLst/>
          </a:prstGeom>
          <a:noFill/>
          <a:ln/>
        </p:spPr>
        <p:txBody>
          <a:bodyPr wrap="square" lIns="0" tIns="0" rIns="0" bIns="0" rtlCol="0" anchor="ctr"/>
          <a:lstStyle/>
          <a:p>
            <a:pPr indent="0" marL="0">
              <a:buNone/>
            </a:pPr>
            <a:r>
              <a:rPr lang="en-US" sz="1500" i="1" dirty="0">
                <a:solidFill>
                  <a:srgbClr val="555555"/>
                </a:solidFill>
                <a:latin typeface="Calibri" pitchFamily="34" charset="0"/>
                <a:ea typeface="Calibri" pitchFamily="34" charset="-122"/>
                <a:cs typeface="Calibri" pitchFamily="34" charset="-120"/>
              </a:rPr>
              <a:t>Every skill file uses the same structure: Purpose · When to Use · When NOT to Use · Inputs · Workflow · Tools · Rules · Output · Error Handling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822960"/>
          </a:xfrm>
          <a:prstGeom prst="rect">
            <a:avLst/>
          </a:prstGeom>
          <a:noFill/>
          <a:ln/>
        </p:spPr>
        <p:txBody>
          <a:bodyPr wrap="square" lIns="0" tIns="0" rIns="0" bIns="0" rtlCol="0" anchor="ctr"/>
          <a:lstStyle/>
          <a:p>
            <a:pPr indent="0" marL="0">
              <a:buNone/>
            </a:pPr>
            <a:r>
              <a:rPr lang="en-US" sz="3200" b="1" dirty="0">
                <a:solidFill>
                  <a:srgbClr val="1B1A2E"/>
                </a:solidFill>
                <a:latin typeface="Georgia" pitchFamily="34" charset="0"/>
                <a:ea typeface="Georgia" pitchFamily="34" charset="-122"/>
                <a:cs typeface="Georgia" pitchFamily="34" charset="-120"/>
              </a:rPr>
              <a:t>Demo: a sample comeback run</a:t>
            </a:r>
            <a:endParaRPr lang="en-US" sz="3200" dirty="0"/>
          </a:p>
        </p:txBody>
      </p:sp>
      <p:sp>
        <p:nvSpPr>
          <p:cNvPr id="4" name="Shape 1"/>
          <p:cNvSpPr/>
          <p:nvPr/>
        </p:nvSpPr>
        <p:spPr>
          <a:xfrm>
            <a:off x="548640" y="1463040"/>
            <a:ext cx="3566160" cy="2103120"/>
          </a:xfrm>
          <a:prstGeom prst="roundRect">
            <a:avLst>
              <a:gd name="adj" fmla="val 5217"/>
            </a:avLst>
          </a:prstGeom>
          <a:solidFill>
            <a:srgbClr val="FFFFFF"/>
          </a:solidFill>
          <a:ln w="25400">
            <a:solidFill>
              <a:srgbClr val="1B1A2E"/>
            </a:solidFill>
            <a:prstDash val="solid"/>
          </a:ln>
        </p:spPr>
      </p:sp>
      <p:sp>
        <p:nvSpPr>
          <p:cNvPr id="5" name="Shape 2"/>
          <p:cNvSpPr/>
          <p:nvPr/>
        </p:nvSpPr>
        <p:spPr>
          <a:xfrm>
            <a:off x="731520" y="1645920"/>
            <a:ext cx="548640" cy="548640"/>
          </a:xfrm>
          <a:prstGeom prst="ellipse">
            <a:avLst/>
          </a:prstGeom>
          <a:solidFill>
            <a:srgbClr val="1B1A2E"/>
          </a:solidFill>
          <a:ln w="12700">
            <a:solidFill>
              <a:srgbClr val="FFFFFF"/>
            </a:solidFill>
            <a:prstDash val="solid"/>
          </a:ln>
        </p:spPr>
      </p:sp>
      <p:sp>
        <p:nvSpPr>
          <p:cNvPr id="6" name="Text 3"/>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Text 4"/>
          <p:cNvSpPr txBox="1"/>
          <p:nvPr/>
        </p:nvSpPr>
        <p:spPr>
          <a:xfrm>
            <a:off x="1417320" y="1645920"/>
            <a:ext cx="2560320" cy="548640"/>
          </a:xfrm>
          <a:prstGeom prst="rect">
            <a:avLst/>
          </a:prstGeom>
          <a:noFill/>
          <a:ln/>
        </p:spPr>
        <p:txBody>
          <a:bodyPr wrap="square" lIns="0" tIns="0" rIns="0" bIns="0" rtlCol="0" anchor="ctr"/>
          <a:lstStyle/>
          <a:p>
            <a:pPr indent="0" marL="0">
              <a:buNone/>
            </a:pPr>
            <a:r>
              <a:rPr lang="en-US" sz="2200" b="1" dirty="0">
                <a:solidFill>
                  <a:srgbClr val="1B1A2E"/>
                </a:solidFill>
                <a:latin typeface="Georgia" pitchFamily="34" charset="0"/>
                <a:ea typeface="Georgia" pitchFamily="34" charset="-122"/>
                <a:cs typeface="Georgia" pitchFamily="34" charset="-120"/>
              </a:rPr>
              <a:t>Inputs</a:t>
            </a:r>
            <a:endParaRPr lang="en-US" sz="2200" dirty="0"/>
          </a:p>
        </p:txBody>
      </p:sp>
      <p:sp>
        <p:nvSpPr>
          <p:cNvPr id="8" name="Text 5"/>
          <p:cNvSpPr txBox="1"/>
          <p:nvPr/>
        </p:nvSpPr>
        <p:spPr>
          <a:xfrm>
            <a:off x="731520" y="2377440"/>
            <a:ext cx="3200400" cy="1005840"/>
          </a:xfrm>
          <a:prstGeom prst="rect">
            <a:avLst/>
          </a:prstGeom>
          <a:noFill/>
          <a:ln/>
        </p:spPr>
        <p:txBody>
          <a:bodyPr wrap="square" lIns="0" tIns="0" rIns="0" bIns="0" rtlCol="0" anchor="t"/>
          <a:lstStyle/>
          <a:p>
            <a:pPr indent="0" marL="0">
              <a:buNone/>
            </a:pPr>
            <a:r>
              <a:rPr lang="en-US" sz="1600" dirty="0">
                <a:solidFill>
                  <a:srgbClr val="1B1A2E"/>
                </a:solidFill>
                <a:latin typeface="Calibri" pitchFamily="34" charset="0"/>
                <a:ea typeface="Calibri" pitchFamily="34" charset="-122"/>
                <a:cs typeface="Calibri" pitchFamily="34" charset="-120"/>
              </a:rPr>
              <a:t>Artist, title, date, vibe, platforms</a:t>
            </a:r>
            <a:endParaRPr lang="en-US" sz="1600" dirty="0"/>
          </a:p>
        </p:txBody>
      </p:sp>
      <p:sp>
        <p:nvSpPr>
          <p:cNvPr id="9" name="Shape 6"/>
          <p:cNvSpPr/>
          <p:nvPr/>
        </p:nvSpPr>
        <p:spPr>
          <a:xfrm>
            <a:off x="4297680" y="1463040"/>
            <a:ext cx="3566160" cy="2103120"/>
          </a:xfrm>
          <a:prstGeom prst="roundRect">
            <a:avLst>
              <a:gd name="adj" fmla="val 5217"/>
            </a:avLst>
          </a:prstGeom>
          <a:solidFill>
            <a:srgbClr val="FFFFFF"/>
          </a:solidFill>
          <a:ln w="25400">
            <a:solidFill>
              <a:srgbClr val="1B1A2E"/>
            </a:solidFill>
            <a:prstDash val="solid"/>
          </a:ln>
        </p:spPr>
      </p:sp>
      <p:sp>
        <p:nvSpPr>
          <p:cNvPr id="10" name="Shape 7"/>
          <p:cNvSpPr/>
          <p:nvPr/>
        </p:nvSpPr>
        <p:spPr>
          <a:xfrm>
            <a:off x="4480560" y="1645920"/>
            <a:ext cx="548640" cy="548640"/>
          </a:xfrm>
          <a:prstGeom prst="ellipse">
            <a:avLst/>
          </a:prstGeom>
          <a:solidFill>
            <a:srgbClr val="1B1A2E"/>
          </a:solidFill>
          <a:ln w="12700">
            <a:solidFill>
              <a:srgbClr val="FFFFFF"/>
            </a:solidFill>
            <a:prstDash val="solid"/>
          </a:ln>
        </p:spPr>
      </p:sp>
      <p:sp>
        <p:nvSpPr>
          <p:cNvPr id="11" name="Text 8"/>
          <p:cNvSpPr txBox="1"/>
          <p:nvPr/>
        </p:nvSpPr>
        <p:spPr>
          <a:xfrm>
            <a:off x="448056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2" name="Text 9"/>
          <p:cNvSpPr txBox="1"/>
          <p:nvPr/>
        </p:nvSpPr>
        <p:spPr>
          <a:xfrm>
            <a:off x="5166360" y="1645920"/>
            <a:ext cx="2560320" cy="548640"/>
          </a:xfrm>
          <a:prstGeom prst="rect">
            <a:avLst/>
          </a:prstGeom>
          <a:noFill/>
          <a:ln/>
        </p:spPr>
        <p:txBody>
          <a:bodyPr wrap="square" lIns="0" tIns="0" rIns="0" bIns="0" rtlCol="0" anchor="ctr"/>
          <a:lstStyle/>
          <a:p>
            <a:pPr indent="0" marL="0">
              <a:buNone/>
            </a:pPr>
            <a:r>
              <a:rPr lang="en-US" sz="2200" b="1" dirty="0">
                <a:solidFill>
                  <a:srgbClr val="1B1A2E"/>
                </a:solidFill>
                <a:latin typeface="Georgia" pitchFamily="34" charset="0"/>
                <a:ea typeface="Georgia" pitchFamily="34" charset="-122"/>
                <a:cs typeface="Georgia" pitchFamily="34" charset="-120"/>
              </a:rPr>
              <a:t>Plan</a:t>
            </a:r>
            <a:endParaRPr lang="en-US" sz="2200" dirty="0"/>
          </a:p>
        </p:txBody>
      </p:sp>
      <p:sp>
        <p:nvSpPr>
          <p:cNvPr id="13" name="Text 10"/>
          <p:cNvSpPr txBox="1"/>
          <p:nvPr/>
        </p:nvSpPr>
        <p:spPr>
          <a:xfrm>
            <a:off x="4480560" y="2377440"/>
            <a:ext cx="3200400" cy="1005840"/>
          </a:xfrm>
          <a:prstGeom prst="rect">
            <a:avLst/>
          </a:prstGeom>
          <a:noFill/>
          <a:ln/>
        </p:spPr>
        <p:txBody>
          <a:bodyPr wrap="square" lIns="0" tIns="0" rIns="0" bIns="0" rtlCol="0" anchor="t"/>
          <a:lstStyle/>
          <a:p>
            <a:pPr indent="0" marL="0">
              <a:buNone/>
            </a:pPr>
            <a:r>
              <a:rPr lang="en-US" sz="1600" dirty="0">
                <a:solidFill>
                  <a:srgbClr val="1B1A2E"/>
                </a:solidFill>
                <a:latin typeface="Calibri" pitchFamily="34" charset="0"/>
                <a:ea typeface="Calibri" pitchFamily="34" charset="-122"/>
                <a:cs typeface="Calibri" pitchFamily="34" charset="-120"/>
              </a:rPr>
              <a:t>6-milestone timeline, drop day = Nov 27</a:t>
            </a:r>
            <a:endParaRPr lang="en-US" sz="1600" dirty="0"/>
          </a:p>
        </p:txBody>
      </p:sp>
      <p:sp>
        <p:nvSpPr>
          <p:cNvPr id="14" name="Shape 11"/>
          <p:cNvSpPr/>
          <p:nvPr/>
        </p:nvSpPr>
        <p:spPr>
          <a:xfrm>
            <a:off x="8046720" y="1463040"/>
            <a:ext cx="3566160" cy="2103120"/>
          </a:xfrm>
          <a:prstGeom prst="roundRect">
            <a:avLst>
              <a:gd name="adj" fmla="val 5217"/>
            </a:avLst>
          </a:prstGeom>
          <a:solidFill>
            <a:srgbClr val="FFFFFF"/>
          </a:solidFill>
          <a:ln w="25400">
            <a:solidFill>
              <a:srgbClr val="1B1A2E"/>
            </a:solidFill>
            <a:prstDash val="solid"/>
          </a:ln>
        </p:spPr>
      </p:sp>
      <p:sp>
        <p:nvSpPr>
          <p:cNvPr id="15" name="Shape 12"/>
          <p:cNvSpPr/>
          <p:nvPr/>
        </p:nvSpPr>
        <p:spPr>
          <a:xfrm>
            <a:off x="8229600" y="1645920"/>
            <a:ext cx="548640" cy="548640"/>
          </a:xfrm>
          <a:prstGeom prst="ellipse">
            <a:avLst/>
          </a:prstGeom>
          <a:solidFill>
            <a:srgbClr val="1B1A2E"/>
          </a:solidFill>
          <a:ln w="12700">
            <a:solidFill>
              <a:srgbClr val="FFFFFF"/>
            </a:solidFill>
            <a:prstDash val="solid"/>
          </a:ln>
        </p:spPr>
      </p:sp>
      <p:sp>
        <p:nvSpPr>
          <p:cNvPr id="16" name="Text 13"/>
          <p:cNvSpPr txBox="1"/>
          <p:nvPr/>
        </p:nvSpPr>
        <p:spPr>
          <a:xfrm>
            <a:off x="82296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7" name="Text 14"/>
          <p:cNvSpPr txBox="1"/>
          <p:nvPr/>
        </p:nvSpPr>
        <p:spPr>
          <a:xfrm>
            <a:off x="8915400" y="1645920"/>
            <a:ext cx="2560320" cy="548640"/>
          </a:xfrm>
          <a:prstGeom prst="rect">
            <a:avLst/>
          </a:prstGeom>
          <a:noFill/>
          <a:ln/>
        </p:spPr>
        <p:txBody>
          <a:bodyPr wrap="square" lIns="0" tIns="0" rIns="0" bIns="0" rtlCol="0" anchor="ctr"/>
          <a:lstStyle/>
          <a:p>
            <a:pPr indent="0" marL="0">
              <a:buNone/>
            </a:pPr>
            <a:r>
              <a:rPr lang="en-US" sz="2200" b="1" dirty="0">
                <a:solidFill>
                  <a:srgbClr val="1B1A2E"/>
                </a:solidFill>
                <a:latin typeface="Georgia" pitchFamily="34" charset="0"/>
                <a:ea typeface="Georgia" pitchFamily="34" charset="-122"/>
                <a:cs typeface="Georgia" pitchFamily="34" charset="-120"/>
              </a:rPr>
              <a:t>Execute</a:t>
            </a:r>
            <a:endParaRPr lang="en-US" sz="2200" dirty="0"/>
          </a:p>
        </p:txBody>
      </p:sp>
      <p:sp>
        <p:nvSpPr>
          <p:cNvPr id="18" name="Text 15"/>
          <p:cNvSpPr txBox="1"/>
          <p:nvPr/>
        </p:nvSpPr>
        <p:spPr>
          <a:xfrm>
            <a:off x="8229600" y="2377440"/>
            <a:ext cx="3200400" cy="1005840"/>
          </a:xfrm>
          <a:prstGeom prst="rect">
            <a:avLst/>
          </a:prstGeom>
          <a:noFill/>
          <a:ln/>
        </p:spPr>
        <p:txBody>
          <a:bodyPr wrap="square" lIns="0" tIns="0" rIns="0" bIns="0" rtlCol="0" anchor="t"/>
          <a:lstStyle/>
          <a:p>
            <a:pPr indent="0" marL="0">
              <a:buNone/>
            </a:pPr>
            <a:r>
              <a:rPr lang="en-US" sz="1600" dirty="0">
                <a:solidFill>
                  <a:srgbClr val="1B1A2E"/>
                </a:solidFill>
                <a:latin typeface="Calibri" pitchFamily="34" charset="0"/>
                <a:ea typeface="Calibri" pitchFamily="34" charset="-122"/>
                <a:cs typeface="Calibri" pitchFamily="34" charset="-120"/>
              </a:rPr>
              <a:t>Draft posts for each milestone</a:t>
            </a:r>
            <a:endParaRPr lang="en-US" sz="1600" dirty="0"/>
          </a:p>
        </p:txBody>
      </p:sp>
      <p:sp>
        <p:nvSpPr>
          <p:cNvPr id="19" name="Shape 16"/>
          <p:cNvSpPr/>
          <p:nvPr/>
        </p:nvSpPr>
        <p:spPr>
          <a:xfrm>
            <a:off x="548640" y="3794760"/>
            <a:ext cx="3566160" cy="2103120"/>
          </a:xfrm>
          <a:prstGeom prst="roundRect">
            <a:avLst>
              <a:gd name="adj" fmla="val 5217"/>
            </a:avLst>
          </a:prstGeom>
          <a:solidFill>
            <a:srgbClr val="FFFFFF"/>
          </a:solidFill>
          <a:ln w="25400">
            <a:solidFill>
              <a:srgbClr val="FF6B5A"/>
            </a:solidFill>
            <a:prstDash val="solid"/>
          </a:ln>
        </p:spPr>
      </p:sp>
      <p:sp>
        <p:nvSpPr>
          <p:cNvPr id="20" name="Shape 17"/>
          <p:cNvSpPr/>
          <p:nvPr/>
        </p:nvSpPr>
        <p:spPr>
          <a:xfrm>
            <a:off x="731520" y="3977640"/>
            <a:ext cx="548640" cy="548640"/>
          </a:xfrm>
          <a:prstGeom prst="ellipse">
            <a:avLst/>
          </a:prstGeom>
          <a:solidFill>
            <a:srgbClr val="FF6B5A"/>
          </a:solidFill>
          <a:ln w="12700">
            <a:solidFill>
              <a:srgbClr val="FFFFFF"/>
            </a:solidFill>
            <a:prstDash val="solid"/>
          </a:ln>
        </p:spPr>
      </p:sp>
      <p:sp>
        <p:nvSpPr>
          <p:cNvPr id="21" name="Text 18"/>
          <p:cNvSpPr txBox="1"/>
          <p:nvPr/>
        </p:nvSpPr>
        <p:spPr>
          <a:xfrm>
            <a:off x="731520" y="3977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2" name="Text 19"/>
          <p:cNvSpPr txBox="1"/>
          <p:nvPr/>
        </p:nvSpPr>
        <p:spPr>
          <a:xfrm>
            <a:off x="1417320" y="3977640"/>
            <a:ext cx="2560320" cy="548640"/>
          </a:xfrm>
          <a:prstGeom prst="rect">
            <a:avLst/>
          </a:prstGeom>
          <a:noFill/>
          <a:ln/>
        </p:spPr>
        <p:txBody>
          <a:bodyPr wrap="square" lIns="0" tIns="0" rIns="0" bIns="0" rtlCol="0" anchor="ctr"/>
          <a:lstStyle/>
          <a:p>
            <a:pPr indent="0" marL="0">
              <a:buNone/>
            </a:pPr>
            <a:r>
              <a:rPr lang="en-US" sz="2200" b="1" dirty="0">
                <a:solidFill>
                  <a:srgbClr val="1B1A2E"/>
                </a:solidFill>
                <a:latin typeface="Georgia" pitchFamily="34" charset="0"/>
                <a:ea typeface="Georgia" pitchFamily="34" charset="-122"/>
                <a:cs typeface="Georgia" pitchFamily="34" charset="-120"/>
              </a:rPr>
              <a:t>Check</a:t>
            </a:r>
            <a:endParaRPr lang="en-US" sz="2200" dirty="0"/>
          </a:p>
        </p:txBody>
      </p:sp>
      <p:sp>
        <p:nvSpPr>
          <p:cNvPr id="23" name="Text 20"/>
          <p:cNvSpPr txBox="1"/>
          <p:nvPr/>
        </p:nvSpPr>
        <p:spPr>
          <a:xfrm>
            <a:off x="731520" y="4709160"/>
            <a:ext cx="3200400" cy="1005840"/>
          </a:xfrm>
          <a:prstGeom prst="rect">
            <a:avLst/>
          </a:prstGeom>
          <a:noFill/>
          <a:ln/>
        </p:spPr>
        <p:txBody>
          <a:bodyPr wrap="square" lIns="0" tIns="0" rIns="0" bIns="0" rtlCol="0" anchor="t"/>
          <a:lstStyle/>
          <a:p>
            <a:pPr indent="0" marL="0">
              <a:buNone/>
            </a:pPr>
            <a:r>
              <a:rPr lang="en-US" sz="1600" dirty="0">
                <a:solidFill>
                  <a:srgbClr val="1B1A2E"/>
                </a:solidFill>
                <a:latin typeface="Calibri" pitchFamily="34" charset="0"/>
                <a:ea typeface="Calibri" pitchFamily="34" charset="-122"/>
                <a:cs typeface="Calibri" pitchFamily="34" charset="-120"/>
              </a:rPr>
              <a:t>NEEDS FIX: fake "award-winning", 10 spammy hashtags</a:t>
            </a:r>
            <a:endParaRPr lang="en-US" sz="1600" dirty="0"/>
          </a:p>
        </p:txBody>
      </p:sp>
      <p:sp>
        <p:nvSpPr>
          <p:cNvPr id="24" name="Shape 21"/>
          <p:cNvSpPr/>
          <p:nvPr/>
        </p:nvSpPr>
        <p:spPr>
          <a:xfrm>
            <a:off x="4297680" y="3794760"/>
            <a:ext cx="3566160" cy="2103120"/>
          </a:xfrm>
          <a:prstGeom prst="roundRect">
            <a:avLst>
              <a:gd name="adj" fmla="val 5217"/>
            </a:avLst>
          </a:prstGeom>
          <a:solidFill>
            <a:srgbClr val="FFFFFF"/>
          </a:solidFill>
          <a:ln w="25400">
            <a:solidFill>
              <a:srgbClr val="1B1A2E"/>
            </a:solidFill>
            <a:prstDash val="solid"/>
          </a:ln>
        </p:spPr>
      </p:sp>
      <p:sp>
        <p:nvSpPr>
          <p:cNvPr id="25" name="Shape 22"/>
          <p:cNvSpPr/>
          <p:nvPr/>
        </p:nvSpPr>
        <p:spPr>
          <a:xfrm>
            <a:off x="4480560" y="3977640"/>
            <a:ext cx="548640" cy="548640"/>
          </a:xfrm>
          <a:prstGeom prst="ellipse">
            <a:avLst/>
          </a:prstGeom>
          <a:solidFill>
            <a:srgbClr val="1B1A2E"/>
          </a:solidFill>
          <a:ln w="12700">
            <a:solidFill>
              <a:srgbClr val="FFFFFF"/>
            </a:solidFill>
            <a:prstDash val="solid"/>
          </a:ln>
        </p:spPr>
      </p:sp>
      <p:sp>
        <p:nvSpPr>
          <p:cNvPr id="26" name="Text 23"/>
          <p:cNvSpPr txBox="1"/>
          <p:nvPr/>
        </p:nvSpPr>
        <p:spPr>
          <a:xfrm>
            <a:off x="4480560" y="3977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27" name="Text 24"/>
          <p:cNvSpPr txBox="1"/>
          <p:nvPr/>
        </p:nvSpPr>
        <p:spPr>
          <a:xfrm>
            <a:off x="5166360" y="3977640"/>
            <a:ext cx="2560320" cy="548640"/>
          </a:xfrm>
          <a:prstGeom prst="rect">
            <a:avLst/>
          </a:prstGeom>
          <a:noFill/>
          <a:ln/>
        </p:spPr>
        <p:txBody>
          <a:bodyPr wrap="square" lIns="0" tIns="0" rIns="0" bIns="0" rtlCol="0" anchor="ctr"/>
          <a:lstStyle/>
          <a:p>
            <a:pPr indent="0" marL="0">
              <a:buNone/>
            </a:pPr>
            <a:r>
              <a:rPr lang="en-US" sz="2200" b="1" dirty="0">
                <a:solidFill>
                  <a:srgbClr val="1B1A2E"/>
                </a:solidFill>
                <a:latin typeface="Georgia" pitchFamily="34" charset="0"/>
                <a:ea typeface="Georgia" pitchFamily="34" charset="-122"/>
                <a:cs typeface="Georgia" pitchFamily="34" charset="-120"/>
              </a:rPr>
              <a:t>Fix</a:t>
            </a:r>
            <a:endParaRPr lang="en-US" sz="2200" dirty="0"/>
          </a:p>
        </p:txBody>
      </p:sp>
      <p:sp>
        <p:nvSpPr>
          <p:cNvPr id="28" name="Text 25"/>
          <p:cNvSpPr txBox="1"/>
          <p:nvPr/>
        </p:nvSpPr>
        <p:spPr>
          <a:xfrm>
            <a:off x="4480560" y="4709160"/>
            <a:ext cx="3200400" cy="1005840"/>
          </a:xfrm>
          <a:prstGeom prst="rect">
            <a:avLst/>
          </a:prstGeom>
          <a:noFill/>
          <a:ln/>
        </p:spPr>
        <p:txBody>
          <a:bodyPr wrap="square" lIns="0" tIns="0" rIns="0" bIns="0" rtlCol="0" anchor="t"/>
          <a:lstStyle/>
          <a:p>
            <a:pPr indent="0" marL="0">
              <a:buNone/>
            </a:pPr>
            <a:r>
              <a:rPr lang="en-US" sz="1600" dirty="0">
                <a:solidFill>
                  <a:srgbClr val="1B1A2E"/>
                </a:solidFill>
                <a:latin typeface="Calibri" pitchFamily="34" charset="0"/>
                <a:ea typeface="Calibri" pitchFamily="34" charset="-122"/>
                <a:cs typeface="Calibri" pitchFamily="34" charset="-120"/>
              </a:rPr>
              <a:t>Execution rewrites. Review says PASS</a:t>
            </a:r>
            <a:endParaRPr lang="en-US" sz="1600" dirty="0"/>
          </a:p>
        </p:txBody>
      </p:sp>
      <p:sp>
        <p:nvSpPr>
          <p:cNvPr id="29" name="Shape 26"/>
          <p:cNvSpPr/>
          <p:nvPr/>
        </p:nvSpPr>
        <p:spPr>
          <a:xfrm>
            <a:off x="8046720" y="3794760"/>
            <a:ext cx="3566160" cy="2103120"/>
          </a:xfrm>
          <a:prstGeom prst="roundRect">
            <a:avLst>
              <a:gd name="adj" fmla="val 5217"/>
            </a:avLst>
          </a:prstGeom>
          <a:solidFill>
            <a:srgbClr val="FFFFFF"/>
          </a:solidFill>
          <a:ln w="25400">
            <a:solidFill>
              <a:srgbClr val="1B1A2E"/>
            </a:solidFill>
            <a:prstDash val="solid"/>
          </a:ln>
        </p:spPr>
      </p:sp>
      <p:sp>
        <p:nvSpPr>
          <p:cNvPr id="30" name="Shape 27"/>
          <p:cNvSpPr/>
          <p:nvPr/>
        </p:nvSpPr>
        <p:spPr>
          <a:xfrm>
            <a:off x="8229600" y="3977640"/>
            <a:ext cx="548640" cy="548640"/>
          </a:xfrm>
          <a:prstGeom prst="ellipse">
            <a:avLst/>
          </a:prstGeom>
          <a:solidFill>
            <a:srgbClr val="2E8B6E"/>
          </a:solidFill>
          <a:ln w="12700">
            <a:solidFill>
              <a:srgbClr val="FFFFFF"/>
            </a:solidFill>
            <a:prstDash val="solid"/>
          </a:ln>
        </p:spPr>
      </p:sp>
      <p:sp>
        <p:nvSpPr>
          <p:cNvPr id="31" name="Text 28"/>
          <p:cNvSpPr txBox="1"/>
          <p:nvPr/>
        </p:nvSpPr>
        <p:spPr>
          <a:xfrm>
            <a:off x="8229600" y="3977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6</a:t>
            </a:r>
            <a:endParaRPr lang="en-US" sz="2000" dirty="0"/>
          </a:p>
        </p:txBody>
      </p:sp>
      <p:sp>
        <p:nvSpPr>
          <p:cNvPr id="32" name="Text 29"/>
          <p:cNvSpPr txBox="1"/>
          <p:nvPr/>
        </p:nvSpPr>
        <p:spPr>
          <a:xfrm>
            <a:off x="8915400" y="3977640"/>
            <a:ext cx="2560320" cy="548640"/>
          </a:xfrm>
          <a:prstGeom prst="rect">
            <a:avLst/>
          </a:prstGeom>
          <a:noFill/>
          <a:ln/>
        </p:spPr>
        <p:txBody>
          <a:bodyPr wrap="square" lIns="0" tIns="0" rIns="0" bIns="0" rtlCol="0" anchor="ctr"/>
          <a:lstStyle/>
          <a:p>
            <a:pPr indent="0" marL="0">
              <a:buNone/>
            </a:pPr>
            <a:r>
              <a:rPr lang="en-US" sz="2200" b="1" dirty="0">
                <a:solidFill>
                  <a:srgbClr val="1B1A2E"/>
                </a:solidFill>
                <a:latin typeface="Georgia" pitchFamily="34" charset="0"/>
                <a:ea typeface="Georgia" pitchFamily="34" charset="-122"/>
                <a:cs typeface="Georgia" pitchFamily="34" charset="-120"/>
              </a:rPr>
              <a:t>Approve</a:t>
            </a:r>
            <a:endParaRPr lang="en-US" sz="2200" dirty="0"/>
          </a:p>
        </p:txBody>
      </p:sp>
      <p:sp>
        <p:nvSpPr>
          <p:cNvPr id="33" name="Text 30"/>
          <p:cNvSpPr txBox="1"/>
          <p:nvPr/>
        </p:nvSpPr>
        <p:spPr>
          <a:xfrm>
            <a:off x="8229600" y="4709160"/>
            <a:ext cx="3200400" cy="1005840"/>
          </a:xfrm>
          <a:prstGeom prst="rect">
            <a:avLst/>
          </a:prstGeom>
          <a:noFill/>
          <a:ln/>
        </p:spPr>
        <p:txBody>
          <a:bodyPr wrap="square" lIns="0" tIns="0" rIns="0" bIns="0" rtlCol="0" anchor="t"/>
          <a:lstStyle/>
          <a:p>
            <a:pPr indent="0" marL="0">
              <a:buNone/>
            </a:pPr>
            <a:r>
              <a:rPr lang="en-US" sz="1600" dirty="0">
                <a:solidFill>
                  <a:srgbClr val="1B1A2E"/>
                </a:solidFill>
                <a:latin typeface="Calibri" pitchFamily="34" charset="0"/>
                <a:ea typeface="Calibri" pitchFamily="34" charset="-122"/>
                <a:cs typeface="Calibri" pitchFamily="34" charset="-120"/>
              </a:rPr>
              <a:t>Human approves. Calendar + copy exported</a:t>
            </a:r>
            <a:endParaRPr lang="en-US" sz="1600" dirty="0"/>
          </a:p>
        </p:txBody>
      </p:sp>
      <p:sp>
        <p:nvSpPr>
          <p:cNvPr id="34" name="Text 31"/>
          <p:cNvSpPr txBox="1"/>
          <p:nvPr/>
        </p:nvSpPr>
        <p:spPr>
          <a:xfrm>
            <a:off x="548640" y="6217920"/>
            <a:ext cx="10972800" cy="365760"/>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Sample names and details are made up for the demo.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822960"/>
          </a:xfrm>
          <a:prstGeom prst="rect">
            <a:avLst/>
          </a:prstGeom>
          <a:noFill/>
          <a:ln/>
        </p:spPr>
        <p:txBody>
          <a:bodyPr wrap="square" lIns="0" tIns="0" rIns="0" bIns="0" rtlCol="0" anchor="ctr"/>
          <a:lstStyle/>
          <a:p>
            <a:pPr indent="0" marL="0">
              <a:buNone/>
            </a:pPr>
            <a:r>
              <a:rPr lang="en-US" sz="3200" b="1" dirty="0">
                <a:solidFill>
                  <a:srgbClr val="1B1A2E"/>
                </a:solidFill>
                <a:latin typeface="Georgia" pitchFamily="34" charset="0"/>
                <a:ea typeface="Georgia" pitchFamily="34" charset="-122"/>
                <a:cs typeface="Georgia" pitchFamily="34" charset="-120"/>
              </a:rPr>
              <a:t>NIST AI RMF: Govern, Map, Measure, Manage</a:t>
            </a:r>
            <a:endParaRPr lang="en-US" sz="3200" dirty="0"/>
          </a:p>
        </p:txBody>
      </p:sp>
      <p:sp>
        <p:nvSpPr>
          <p:cNvPr id="4" name="Shape 1"/>
          <p:cNvSpPr/>
          <p:nvPr/>
        </p:nvSpPr>
        <p:spPr>
          <a:xfrm>
            <a:off x="548640" y="1463040"/>
            <a:ext cx="2651760" cy="4754880"/>
          </a:xfrm>
          <a:prstGeom prst="roundRect">
            <a:avLst>
              <a:gd name="adj" fmla="val 4138"/>
            </a:avLst>
          </a:prstGeom>
          <a:solidFill>
            <a:srgbClr val="FFFFFF"/>
          </a:solidFill>
          <a:ln w="25400">
            <a:solidFill>
              <a:srgbClr val="1B1A2E"/>
            </a:solidFill>
            <a:prstDash val="solid"/>
          </a:ln>
        </p:spPr>
      </p:sp>
      <p:sp>
        <p:nvSpPr>
          <p:cNvPr id="5" name="Shape 2"/>
          <p:cNvSpPr/>
          <p:nvPr/>
        </p:nvSpPr>
        <p:spPr>
          <a:xfrm>
            <a:off x="548640" y="1463040"/>
            <a:ext cx="2651760" cy="1097280"/>
          </a:xfrm>
          <a:prstGeom prst="roundRect">
            <a:avLst>
              <a:gd name="adj" fmla="val 10000"/>
            </a:avLst>
          </a:prstGeom>
          <a:solidFill>
            <a:srgbClr val="1B1A2E"/>
          </a:solidFill>
          <a:ln w="12700">
            <a:solidFill>
              <a:srgbClr val="1B1A2E"/>
            </a:solidFill>
            <a:prstDash val="solid"/>
          </a:ln>
        </p:spPr>
      </p:sp>
      <p:sp>
        <p:nvSpPr>
          <p:cNvPr id="6" name="Text 3"/>
          <p:cNvSpPr txBox="1"/>
          <p:nvPr/>
        </p:nvSpPr>
        <p:spPr>
          <a:xfrm>
            <a:off x="685800" y="1463040"/>
            <a:ext cx="2377440" cy="10972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GOVERN</a:t>
            </a:r>
            <a:endParaRPr lang="en-US" sz="2200" dirty="0"/>
          </a:p>
          <a:p>
            <a:pPr indent="0" marL="0">
              <a:buNone/>
            </a:pPr>
            <a:r>
              <a:rPr lang="en-US" sz="1300" dirty="0">
                <a:solidFill>
                  <a:srgbClr val="FFFFFF"/>
                </a:solidFill>
                <a:latin typeface="Calibri" pitchFamily="34" charset="0"/>
                <a:ea typeface="Calibri" pitchFamily="34" charset="-122"/>
                <a:cs typeface="Calibri" pitchFamily="34" charset="-120"/>
              </a:rPr>
              <a:t>Rules + who is responsible</a:t>
            </a:r>
            <a:endParaRPr lang="en-US" sz="2200" dirty="0"/>
          </a:p>
        </p:txBody>
      </p:sp>
      <p:sp>
        <p:nvSpPr>
          <p:cNvPr id="7" name="Text 4"/>
          <p:cNvSpPr txBox="1"/>
          <p:nvPr/>
        </p:nvSpPr>
        <p:spPr>
          <a:xfrm>
            <a:off x="731520" y="2743200"/>
            <a:ext cx="228600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6 governance rules</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Artist / team lead approves</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Orchestrator logs every step</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Team owns skills and rules</a:t>
            </a:r>
            <a:endParaRPr lang="en-US" sz="1500" dirty="0"/>
          </a:p>
        </p:txBody>
      </p:sp>
      <p:sp>
        <p:nvSpPr>
          <p:cNvPr id="8" name="Shape 5"/>
          <p:cNvSpPr/>
          <p:nvPr/>
        </p:nvSpPr>
        <p:spPr>
          <a:xfrm>
            <a:off x="3364992" y="1463040"/>
            <a:ext cx="2651760" cy="4754880"/>
          </a:xfrm>
          <a:prstGeom prst="roundRect">
            <a:avLst>
              <a:gd name="adj" fmla="val 4138"/>
            </a:avLst>
          </a:prstGeom>
          <a:solidFill>
            <a:srgbClr val="FFFFFF"/>
          </a:solidFill>
          <a:ln w="25400">
            <a:solidFill>
              <a:srgbClr val="FF6B5A"/>
            </a:solidFill>
            <a:prstDash val="solid"/>
          </a:ln>
        </p:spPr>
      </p:sp>
      <p:sp>
        <p:nvSpPr>
          <p:cNvPr id="9" name="Shape 6"/>
          <p:cNvSpPr/>
          <p:nvPr/>
        </p:nvSpPr>
        <p:spPr>
          <a:xfrm>
            <a:off x="3364992" y="1463040"/>
            <a:ext cx="2651760" cy="1097280"/>
          </a:xfrm>
          <a:prstGeom prst="roundRect">
            <a:avLst>
              <a:gd name="adj" fmla="val 10000"/>
            </a:avLst>
          </a:prstGeom>
          <a:solidFill>
            <a:srgbClr val="FF6B5A"/>
          </a:solidFill>
          <a:ln w="12700">
            <a:solidFill>
              <a:srgbClr val="FF6B5A"/>
            </a:solidFill>
            <a:prstDash val="solid"/>
          </a:ln>
        </p:spPr>
      </p:sp>
      <p:sp>
        <p:nvSpPr>
          <p:cNvPr id="10" name="Text 7"/>
          <p:cNvSpPr txBox="1"/>
          <p:nvPr/>
        </p:nvSpPr>
        <p:spPr>
          <a:xfrm>
            <a:off x="3502152" y="1463040"/>
            <a:ext cx="2377440" cy="10972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MAP</a:t>
            </a:r>
            <a:endParaRPr lang="en-US" sz="2200" dirty="0"/>
          </a:p>
          <a:p>
            <a:pPr indent="0" marL="0">
              <a:buNone/>
            </a:pPr>
            <a:r>
              <a:rPr lang="en-US" sz="1300" dirty="0">
                <a:solidFill>
                  <a:srgbClr val="FFFFFF"/>
                </a:solidFill>
                <a:latin typeface="Calibri" pitchFamily="34" charset="0"/>
                <a:ea typeface="Calibri" pitchFamily="34" charset="-122"/>
                <a:cs typeface="Calibri" pitchFamily="34" charset="-120"/>
              </a:rPr>
              <a:t>Context + what can go wrong</a:t>
            </a:r>
            <a:endParaRPr lang="en-US" sz="2200" dirty="0"/>
          </a:p>
        </p:txBody>
      </p:sp>
      <p:sp>
        <p:nvSpPr>
          <p:cNvPr id="11" name="Text 8"/>
          <p:cNvSpPr txBox="1"/>
          <p:nvPr/>
        </p:nvSpPr>
        <p:spPr>
          <a:xfrm>
            <a:off x="3547872" y="2743200"/>
            <a:ext cx="228600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Users: indie artists</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Affected: artist and fans</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Limits: no auto-posting</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7 risks identified</a:t>
            </a:r>
            <a:endParaRPr lang="en-US" sz="1500" dirty="0"/>
          </a:p>
        </p:txBody>
      </p:sp>
      <p:sp>
        <p:nvSpPr>
          <p:cNvPr id="12" name="Shape 9"/>
          <p:cNvSpPr/>
          <p:nvPr/>
        </p:nvSpPr>
        <p:spPr>
          <a:xfrm>
            <a:off x="6181344" y="1463040"/>
            <a:ext cx="2651760" cy="4754880"/>
          </a:xfrm>
          <a:prstGeom prst="roundRect">
            <a:avLst>
              <a:gd name="adj" fmla="val 4138"/>
            </a:avLst>
          </a:prstGeom>
          <a:solidFill>
            <a:srgbClr val="FFFFFF"/>
          </a:solidFill>
          <a:ln w="25400">
            <a:solidFill>
              <a:srgbClr val="2E8B6E"/>
            </a:solidFill>
            <a:prstDash val="solid"/>
          </a:ln>
        </p:spPr>
      </p:sp>
      <p:sp>
        <p:nvSpPr>
          <p:cNvPr id="13" name="Shape 10"/>
          <p:cNvSpPr/>
          <p:nvPr/>
        </p:nvSpPr>
        <p:spPr>
          <a:xfrm>
            <a:off x="6181344" y="1463040"/>
            <a:ext cx="2651760" cy="1097280"/>
          </a:xfrm>
          <a:prstGeom prst="roundRect">
            <a:avLst>
              <a:gd name="adj" fmla="val 10000"/>
            </a:avLst>
          </a:prstGeom>
          <a:solidFill>
            <a:srgbClr val="2E8B6E"/>
          </a:solidFill>
          <a:ln w="12700">
            <a:solidFill>
              <a:srgbClr val="2E8B6E"/>
            </a:solidFill>
            <a:prstDash val="solid"/>
          </a:ln>
        </p:spPr>
      </p:sp>
      <p:sp>
        <p:nvSpPr>
          <p:cNvPr id="14" name="Text 11"/>
          <p:cNvSpPr txBox="1"/>
          <p:nvPr/>
        </p:nvSpPr>
        <p:spPr>
          <a:xfrm>
            <a:off x="6318504" y="1463040"/>
            <a:ext cx="2377440" cy="10972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MEASURE</a:t>
            </a:r>
            <a:endParaRPr lang="en-US" sz="2200" dirty="0"/>
          </a:p>
          <a:p>
            <a:pPr indent="0" marL="0">
              <a:buNone/>
            </a:pPr>
            <a:r>
              <a:rPr lang="en-US" sz="1300" dirty="0">
                <a:solidFill>
                  <a:srgbClr val="FFFFFF"/>
                </a:solidFill>
                <a:latin typeface="Calibri" pitchFamily="34" charset="0"/>
                <a:ea typeface="Calibri" pitchFamily="34" charset="-122"/>
                <a:cs typeface="Calibri" pitchFamily="34" charset="-120"/>
              </a:rPr>
              <a:t>How we know it works</a:t>
            </a:r>
            <a:endParaRPr lang="en-US" sz="2200" dirty="0"/>
          </a:p>
        </p:txBody>
      </p:sp>
      <p:sp>
        <p:nvSpPr>
          <p:cNvPr id="15" name="Text 12"/>
          <p:cNvSpPr txBox="1"/>
          <p:nvPr/>
        </p:nvSpPr>
        <p:spPr>
          <a:xfrm>
            <a:off x="6364224" y="2743200"/>
            <a:ext cx="228600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Date accuracy: 100%</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Privacy leaks: 0</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False claims: 0</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Rewrites: 2 or fewer</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Tone rating: 4 of 5+</a:t>
            </a:r>
            <a:endParaRPr lang="en-US" sz="1500" dirty="0"/>
          </a:p>
        </p:txBody>
      </p:sp>
      <p:sp>
        <p:nvSpPr>
          <p:cNvPr id="16" name="Shape 13"/>
          <p:cNvSpPr/>
          <p:nvPr/>
        </p:nvSpPr>
        <p:spPr>
          <a:xfrm>
            <a:off x="8997696" y="1463040"/>
            <a:ext cx="2651760" cy="4754880"/>
          </a:xfrm>
          <a:prstGeom prst="roundRect">
            <a:avLst>
              <a:gd name="adj" fmla="val 4138"/>
            </a:avLst>
          </a:prstGeom>
          <a:solidFill>
            <a:srgbClr val="FFFFFF"/>
          </a:solidFill>
          <a:ln w="25400">
            <a:solidFill>
              <a:srgbClr val="6B5BCE"/>
            </a:solidFill>
            <a:prstDash val="solid"/>
          </a:ln>
        </p:spPr>
      </p:sp>
      <p:sp>
        <p:nvSpPr>
          <p:cNvPr id="17" name="Shape 14"/>
          <p:cNvSpPr/>
          <p:nvPr/>
        </p:nvSpPr>
        <p:spPr>
          <a:xfrm>
            <a:off x="8997696" y="1463040"/>
            <a:ext cx="2651760" cy="1097280"/>
          </a:xfrm>
          <a:prstGeom prst="roundRect">
            <a:avLst>
              <a:gd name="adj" fmla="val 10000"/>
            </a:avLst>
          </a:prstGeom>
          <a:solidFill>
            <a:srgbClr val="6B5BCE"/>
          </a:solidFill>
          <a:ln w="12700">
            <a:solidFill>
              <a:srgbClr val="6B5BCE"/>
            </a:solidFill>
            <a:prstDash val="solid"/>
          </a:ln>
        </p:spPr>
      </p:sp>
      <p:sp>
        <p:nvSpPr>
          <p:cNvPr id="18" name="Text 15"/>
          <p:cNvSpPr txBox="1"/>
          <p:nvPr/>
        </p:nvSpPr>
        <p:spPr>
          <a:xfrm>
            <a:off x="9134856" y="1463040"/>
            <a:ext cx="2377440" cy="10972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MANAGE</a:t>
            </a:r>
            <a:endParaRPr lang="en-US" sz="2200" dirty="0"/>
          </a:p>
          <a:p>
            <a:pPr indent="0" marL="0">
              <a:buNone/>
            </a:pPr>
            <a:r>
              <a:rPr lang="en-US" sz="1300" dirty="0">
                <a:solidFill>
                  <a:srgbClr val="FFFFFF"/>
                </a:solidFill>
                <a:latin typeface="Calibri" pitchFamily="34" charset="0"/>
                <a:ea typeface="Calibri" pitchFamily="34" charset="-122"/>
                <a:cs typeface="Calibri" pitchFamily="34" charset="-120"/>
              </a:rPr>
              <a:t>What we do about it</a:t>
            </a:r>
            <a:endParaRPr lang="en-US" sz="2200" dirty="0"/>
          </a:p>
        </p:txBody>
      </p:sp>
      <p:sp>
        <p:nvSpPr>
          <p:cNvPr id="19" name="Text 16"/>
          <p:cNvSpPr txBox="1"/>
          <p:nvPr/>
        </p:nvSpPr>
        <p:spPr>
          <a:xfrm>
            <a:off x="9180576" y="2743200"/>
            <a:ext cx="228600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Feedback loop (max 2)</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Stop if input missing</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Remove and log leaks</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Human can reject</a:t>
            </a:r>
            <a:endParaRPr lang="en-US" sz="1500" dirty="0"/>
          </a:p>
          <a:p>
            <a:pPr marL="342900" indent="-342900">
              <a:spcAft>
                <a:spcPts val="800"/>
              </a:spcAft>
              <a:buSzPct val="100000"/>
              <a:buChar char="•"/>
            </a:pPr>
            <a:r>
              <a:rPr lang="en-US" sz="1500" dirty="0">
                <a:solidFill>
                  <a:srgbClr val="1B1A2E"/>
                </a:solidFill>
                <a:latin typeface="Calibri" pitchFamily="34" charset="0"/>
                <a:ea typeface="Calibri" pitchFamily="34" charset="-122"/>
                <a:cs typeface="Calibri" pitchFamily="34" charset="-120"/>
              </a:rPr>
              <a:t>Update skills after each run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822960"/>
          </a:xfrm>
          <a:prstGeom prst="rect">
            <a:avLst/>
          </a:prstGeom>
          <a:noFill/>
          <a:ln/>
        </p:spPr>
        <p:txBody>
          <a:bodyPr wrap="square" lIns="0" tIns="0" rIns="0" bIns="0" rtlCol="0" anchor="ctr"/>
          <a:lstStyle/>
          <a:p>
            <a:pPr indent="0" marL="0">
              <a:buNone/>
            </a:pPr>
            <a:r>
              <a:rPr lang="en-US" sz="3200" b="1" dirty="0">
                <a:solidFill>
                  <a:srgbClr val="1B1A2E"/>
                </a:solidFill>
                <a:latin typeface="Georgia" pitchFamily="34" charset="0"/>
                <a:ea typeface="Georgia" pitchFamily="34" charset="-122"/>
                <a:cs typeface="Georgia" pitchFamily="34" charset="-120"/>
              </a:rPr>
              <a:t>Top risks and governance rules</a:t>
            </a:r>
            <a:endParaRPr lang="en-US" sz="3200" dirty="0"/>
          </a:p>
        </p:txBody>
      </p:sp>
      <p:sp>
        <p:nvSpPr>
          <p:cNvPr id="4" name="Text 1"/>
          <p:cNvSpPr txBox="1"/>
          <p:nvPr/>
        </p:nvSpPr>
        <p:spPr>
          <a:xfrm>
            <a:off x="548640" y="1371600"/>
            <a:ext cx="5486400" cy="365760"/>
          </a:xfrm>
          <a:prstGeom prst="rect">
            <a:avLst/>
          </a:prstGeom>
          <a:noFill/>
          <a:ln/>
        </p:spPr>
        <p:txBody>
          <a:bodyPr wrap="square" lIns="0" tIns="0" rIns="0" bIns="0" rtlCol="0" anchor="ctr"/>
          <a:lstStyle/>
          <a:p>
            <a:pPr indent="0" marL="0">
              <a:buNone/>
            </a:pPr>
            <a:r>
              <a:rPr lang="en-US" sz="1500" b="1" dirty="0">
                <a:solidFill>
                  <a:srgbClr val="FF6B5A"/>
                </a:solidFill>
                <a:latin typeface="Calibri" pitchFamily="34" charset="0"/>
                <a:ea typeface="Calibri" pitchFamily="34" charset="-122"/>
                <a:cs typeface="Calibri" pitchFamily="34" charset="-120"/>
              </a:rPr>
              <a:t>RISKS (7 identified)</a:t>
            </a:r>
            <a:endParaRPr lang="en-US" sz="1500" dirty="0"/>
          </a:p>
        </p:txBody>
      </p:sp>
      <p:sp>
        <p:nvSpPr>
          <p:cNvPr id="5" name="Text 2"/>
          <p:cNvSpPr txBox="1"/>
          <p:nvPr/>
        </p:nvSpPr>
        <p:spPr>
          <a:xfrm>
            <a:off x="548640" y="1783080"/>
            <a:ext cx="530352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B1A2E"/>
                </a:solidFill>
                <a:latin typeface="Calibri" pitchFamily="34" charset="0"/>
                <a:ea typeface="Calibri" pitchFamily="34" charset="-122"/>
                <a:cs typeface="Calibri" pitchFamily="34" charset="-120"/>
              </a:rPr>
              <a:t>Generic, robotic tone</a:t>
            </a:r>
            <a:endParaRPr lang="en-US" sz="1700" dirty="0"/>
          </a:p>
          <a:p>
            <a:pPr marL="342900" indent="-342900">
              <a:spcAft>
                <a:spcPts val="800"/>
              </a:spcAft>
              <a:buSzPct val="100000"/>
              <a:buChar char="•"/>
            </a:pPr>
            <a:r>
              <a:rPr lang="en-US" sz="1700" dirty="0">
                <a:solidFill>
                  <a:srgbClr val="1B1A2E"/>
                </a:solidFill>
                <a:latin typeface="Calibri" pitchFamily="34" charset="0"/>
                <a:ea typeface="Calibri" pitchFamily="34" charset="-122"/>
                <a:cs typeface="Calibri" pitchFamily="34" charset="-120"/>
              </a:rPr>
              <a:t>Unreleased tracks or private data leak</a:t>
            </a:r>
            <a:endParaRPr lang="en-US" sz="1700" dirty="0"/>
          </a:p>
          <a:p>
            <a:pPr marL="342900" indent="-342900">
              <a:spcAft>
                <a:spcPts val="800"/>
              </a:spcAft>
              <a:buSzPct val="100000"/>
              <a:buChar char="•"/>
            </a:pPr>
            <a:r>
              <a:rPr lang="en-US" sz="1700" dirty="0">
                <a:solidFill>
                  <a:srgbClr val="1B1A2E"/>
                </a:solidFill>
                <a:latin typeface="Calibri" pitchFamily="34" charset="0"/>
                <a:ea typeface="Calibri" pitchFamily="34" charset="-122"/>
                <a:cs typeface="Calibri" pitchFamily="34" charset="-120"/>
              </a:rPr>
              <a:t>Wrong dates</a:t>
            </a:r>
            <a:endParaRPr lang="en-US" sz="1700" dirty="0"/>
          </a:p>
          <a:p>
            <a:pPr marL="342900" indent="-342900">
              <a:spcAft>
                <a:spcPts val="800"/>
              </a:spcAft>
              <a:buSzPct val="100000"/>
              <a:buChar char="•"/>
            </a:pPr>
            <a:r>
              <a:rPr lang="en-US" sz="1700" dirty="0">
                <a:solidFill>
                  <a:srgbClr val="1B1A2E"/>
                </a:solidFill>
                <a:latin typeface="Calibri" pitchFamily="34" charset="0"/>
                <a:ea typeface="Calibri" pitchFamily="34" charset="-122"/>
                <a:cs typeface="Calibri" pitchFamily="34" charset="-120"/>
              </a:rPr>
              <a:t>Invented awards or numbers</a:t>
            </a:r>
            <a:endParaRPr lang="en-US" sz="1700" dirty="0"/>
          </a:p>
          <a:p>
            <a:pPr marL="342900" indent="-342900">
              <a:spcAft>
                <a:spcPts val="800"/>
              </a:spcAft>
              <a:buSzPct val="100000"/>
              <a:buChar char="•"/>
            </a:pPr>
            <a:r>
              <a:rPr lang="en-US" sz="1700" dirty="0">
                <a:solidFill>
                  <a:srgbClr val="1B1A2E"/>
                </a:solidFill>
                <a:latin typeface="Calibri" pitchFamily="34" charset="0"/>
                <a:ea typeface="Calibri" pitchFamily="34" charset="-122"/>
                <a:cs typeface="Calibri" pitchFamily="34" charset="-120"/>
              </a:rPr>
              <a:t>Spammy hashtags</a:t>
            </a:r>
            <a:endParaRPr lang="en-US" sz="1700" dirty="0"/>
          </a:p>
          <a:p>
            <a:pPr marL="342900" indent="-342900">
              <a:spcAft>
                <a:spcPts val="800"/>
              </a:spcAft>
              <a:buSzPct val="100000"/>
              <a:buChar char="•"/>
            </a:pPr>
            <a:r>
              <a:rPr lang="en-US" sz="1700" dirty="0">
                <a:solidFill>
                  <a:srgbClr val="1B1A2E"/>
                </a:solidFill>
                <a:latin typeface="Calibri" pitchFamily="34" charset="0"/>
                <a:ea typeface="Calibri" pitchFamily="34" charset="-122"/>
                <a:cs typeface="Calibri" pitchFamily="34" charset="-120"/>
              </a:rPr>
              <a:t>Copied lyrics</a:t>
            </a:r>
            <a:endParaRPr lang="en-US" sz="1700" dirty="0"/>
          </a:p>
          <a:p>
            <a:pPr marL="342900" indent="-342900">
              <a:spcAft>
                <a:spcPts val="800"/>
              </a:spcAft>
              <a:buSzPct val="100000"/>
              <a:buChar char="•"/>
            </a:pPr>
            <a:r>
              <a:rPr lang="en-US" sz="1700" dirty="0">
                <a:solidFill>
                  <a:srgbClr val="1B1A2E"/>
                </a:solidFill>
                <a:latin typeface="Calibri" pitchFamily="34" charset="0"/>
                <a:ea typeface="Calibri" pitchFamily="34" charset="-122"/>
                <a:cs typeface="Calibri" pitchFamily="34" charset="-120"/>
              </a:rPr>
              <a:t>Human approves without reading</a:t>
            </a:r>
            <a:endParaRPr lang="en-US" sz="1700" dirty="0"/>
          </a:p>
        </p:txBody>
      </p:sp>
      <p:sp>
        <p:nvSpPr>
          <p:cNvPr id="6" name="Text 3"/>
          <p:cNvSpPr txBox="1"/>
          <p:nvPr/>
        </p:nvSpPr>
        <p:spPr>
          <a:xfrm>
            <a:off x="6309360" y="1371600"/>
            <a:ext cx="5486400" cy="365760"/>
          </a:xfrm>
          <a:prstGeom prst="rect">
            <a:avLst/>
          </a:prstGeom>
          <a:noFill/>
          <a:ln/>
        </p:spPr>
        <p:txBody>
          <a:bodyPr wrap="square" lIns="0" tIns="0" rIns="0" bIns="0" rtlCol="0" anchor="ctr"/>
          <a:lstStyle/>
          <a:p>
            <a:pPr indent="0" marL="0">
              <a:buNone/>
            </a:pPr>
            <a:r>
              <a:rPr lang="en-US" sz="1500" b="1" dirty="0">
                <a:solidFill>
                  <a:srgbClr val="2E8B6E"/>
                </a:solidFill>
                <a:latin typeface="Calibri" pitchFamily="34" charset="0"/>
                <a:ea typeface="Calibri" pitchFamily="34" charset="-122"/>
                <a:cs typeface="Calibri" pitchFamily="34" charset="-120"/>
              </a:rPr>
              <a:t>GOVERNANCE RULES (6)</a:t>
            </a:r>
            <a:endParaRPr lang="en-US" sz="1500" dirty="0"/>
          </a:p>
        </p:txBody>
      </p:sp>
      <p:sp>
        <p:nvSpPr>
          <p:cNvPr id="7" name="Text 4"/>
          <p:cNvSpPr txBox="1"/>
          <p:nvPr/>
        </p:nvSpPr>
        <p:spPr>
          <a:xfrm>
            <a:off x="6309360" y="1783080"/>
            <a:ext cx="5394960" cy="4389120"/>
          </a:xfrm>
          <a:prstGeom prst="rect">
            <a:avLst/>
          </a:prstGeom>
          <a:noFill/>
          <a:ln/>
        </p:spPr>
        <p:txBody>
          <a:bodyPr wrap="square" lIns="0" tIns="0" rIns="0" bIns="0" rtlCol="0" anchor="t"/>
          <a:lstStyle/>
          <a:p>
            <a:pPr indent="0" marL="0">
              <a:spcAft>
                <a:spcPts val="1000"/>
              </a:spcAft>
              <a:buNone/>
            </a:pPr>
            <a:r>
              <a:rPr lang="en-US" sz="1700" dirty="0">
                <a:solidFill>
                  <a:srgbClr val="1B1A2E"/>
                </a:solidFill>
                <a:latin typeface="Calibri" pitchFamily="34" charset="0"/>
                <a:ea typeface="Calibri" pitchFamily="34" charset="-122"/>
                <a:cs typeface="Calibri" pitchFamily="34" charset="-120"/>
              </a:rPr>
              <a:t>G1  Protect private information</a:t>
            </a:r>
            <a:endParaRPr lang="en-US" sz="1700" dirty="0"/>
          </a:p>
          <a:p>
            <a:pPr indent="0" marL="0">
              <a:spcAft>
                <a:spcPts val="1000"/>
              </a:spcAft>
              <a:buNone/>
            </a:pPr>
            <a:r>
              <a:rPr lang="en-US" sz="1700" dirty="0">
                <a:solidFill>
                  <a:srgbClr val="1B1A2E"/>
                </a:solidFill>
                <a:latin typeface="Calibri" pitchFamily="34" charset="0"/>
                <a:ea typeface="Calibri" pitchFamily="34" charset="-122"/>
                <a:cs typeface="Calibri" pitchFamily="34" charset="-120"/>
              </a:rPr>
              <a:t>G2  No false information</a:t>
            </a:r>
            <a:endParaRPr lang="en-US" sz="1700" dirty="0"/>
          </a:p>
          <a:p>
            <a:pPr indent="0" marL="0">
              <a:spcAft>
                <a:spcPts val="1000"/>
              </a:spcAft>
              <a:buNone/>
            </a:pPr>
            <a:r>
              <a:rPr lang="en-US" sz="1700" dirty="0">
                <a:solidFill>
                  <a:srgbClr val="1B1A2E"/>
                </a:solidFill>
                <a:latin typeface="Calibri" pitchFamily="34" charset="0"/>
                <a:ea typeface="Calibri" pitchFamily="34" charset="-122"/>
                <a:cs typeface="Calibri" pitchFamily="34" charset="-120"/>
              </a:rPr>
              <a:t>G3  Check AI content before a human sees it</a:t>
            </a:r>
            <a:endParaRPr lang="en-US" sz="1700" dirty="0"/>
          </a:p>
          <a:p>
            <a:pPr indent="0" marL="0">
              <a:spcAft>
                <a:spcPts val="1000"/>
              </a:spcAft>
              <a:buNone/>
            </a:pPr>
            <a:r>
              <a:rPr lang="en-US" sz="1700" dirty="0">
                <a:solidFill>
                  <a:srgbClr val="1B1A2E"/>
                </a:solidFill>
                <a:latin typeface="Calibri" pitchFamily="34" charset="0"/>
                <a:ea typeface="Calibri" pitchFamily="34" charset="-122"/>
                <a:cs typeface="Calibri" pitchFamily="34" charset="-120"/>
              </a:rPr>
              <a:t>G4  Human approval before export</a:t>
            </a:r>
            <a:endParaRPr lang="en-US" sz="1700" dirty="0"/>
          </a:p>
          <a:p>
            <a:pPr indent="0" marL="0">
              <a:spcAft>
                <a:spcPts val="1000"/>
              </a:spcAft>
              <a:buNone/>
            </a:pPr>
            <a:r>
              <a:rPr lang="en-US" sz="1700" dirty="0">
                <a:solidFill>
                  <a:srgbClr val="1B1A2E"/>
                </a:solidFill>
                <a:latin typeface="Calibri" pitchFamily="34" charset="0"/>
                <a:ea typeface="Calibri" pitchFamily="34" charset="-122"/>
                <a:cs typeface="Calibri" pitchFamily="34" charset="-120"/>
              </a:rPr>
              <a:t>G5  Keep a record of AI activity</a:t>
            </a:r>
            <a:endParaRPr lang="en-US" sz="1700" dirty="0"/>
          </a:p>
          <a:p>
            <a:pPr indent="0" marL="0">
              <a:spcAft>
                <a:spcPts val="1000"/>
              </a:spcAft>
              <a:buNone/>
            </a:pPr>
            <a:r>
              <a:rPr lang="en-US" sz="1700" dirty="0">
                <a:solidFill>
                  <a:srgbClr val="1B1A2E"/>
                </a:solidFill>
                <a:latin typeface="Calibri" pitchFamily="34" charset="0"/>
                <a:ea typeface="Calibri" pitchFamily="34" charset="-122"/>
                <a:cs typeface="Calibri" pitchFamily="34" charset="-120"/>
              </a:rPr>
              <a:t>G6  No copied work. Keep the indie voice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822960"/>
          </a:xfrm>
          <a:prstGeom prst="rect">
            <a:avLst/>
          </a:prstGeom>
          <a:noFill/>
          <a:ln/>
        </p:spPr>
        <p:txBody>
          <a:bodyPr wrap="square" lIns="0" tIns="0" rIns="0" bIns="0" rtlCol="0" anchor="ctr"/>
          <a:lstStyle/>
          <a:p>
            <a:pPr indent="0" marL="0">
              <a:buNone/>
            </a:pPr>
            <a:r>
              <a:rPr lang="en-US" sz="3200" b="1" dirty="0">
                <a:solidFill>
                  <a:srgbClr val="1B1A2E"/>
                </a:solidFill>
                <a:latin typeface="Georgia" pitchFamily="34" charset="0"/>
                <a:ea typeface="Georgia" pitchFamily="34" charset="-122"/>
                <a:cs typeface="Georgia" pitchFamily="34" charset="-120"/>
              </a:rPr>
              <a:t>Testing and human approval</a:t>
            </a:r>
            <a:endParaRPr lang="en-US" sz="3200" dirty="0"/>
          </a:p>
        </p:txBody>
      </p:sp>
      <p:sp>
        <p:nvSpPr>
          <p:cNvPr id="4" name="Shape 1"/>
          <p:cNvSpPr/>
          <p:nvPr/>
        </p:nvSpPr>
        <p:spPr>
          <a:xfrm>
            <a:off x="548640" y="1463040"/>
            <a:ext cx="5486400" cy="4754880"/>
          </a:xfrm>
          <a:prstGeom prst="roundRect">
            <a:avLst>
              <a:gd name="adj" fmla="val 2308"/>
            </a:avLst>
          </a:prstGeom>
          <a:solidFill>
            <a:srgbClr val="FFFFFF"/>
          </a:solidFill>
          <a:ln w="25400">
            <a:solidFill>
              <a:srgbClr val="1B1A2E"/>
            </a:solidFill>
            <a:prstDash val="solid"/>
          </a:ln>
        </p:spPr>
      </p:sp>
      <p:sp>
        <p:nvSpPr>
          <p:cNvPr id="5" name="Shape 2"/>
          <p:cNvSpPr/>
          <p:nvPr/>
        </p:nvSpPr>
        <p:spPr>
          <a:xfrm>
            <a:off x="548640" y="1463040"/>
            <a:ext cx="5486400" cy="640080"/>
          </a:xfrm>
          <a:prstGeom prst="roundRect">
            <a:avLst>
              <a:gd name="adj" fmla="val 17143"/>
            </a:avLst>
          </a:prstGeom>
          <a:solidFill>
            <a:srgbClr val="1B1A2E"/>
          </a:solidFill>
          <a:ln w="12700">
            <a:solidFill>
              <a:srgbClr val="1B1A2E"/>
            </a:solidFill>
            <a:prstDash val="solid"/>
          </a:ln>
        </p:spPr>
      </p:sp>
      <p:sp>
        <p:nvSpPr>
          <p:cNvPr id="6" name="Text 3"/>
          <p:cNvSpPr txBox="1"/>
          <p:nvPr/>
        </p:nvSpPr>
        <p:spPr>
          <a:xfrm>
            <a:off x="685800" y="1463040"/>
            <a:ext cx="5212080" cy="6400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7 test cases</a:t>
            </a:r>
            <a:endParaRPr lang="en-US" sz="2000" dirty="0"/>
          </a:p>
        </p:txBody>
      </p:sp>
      <p:sp>
        <p:nvSpPr>
          <p:cNvPr id="7" name="Text 4"/>
          <p:cNvSpPr txBox="1"/>
          <p:nvPr/>
        </p:nvSpPr>
        <p:spPr>
          <a:xfrm>
            <a:off x="731520" y="2240280"/>
            <a:ext cx="5120640" cy="3840480"/>
          </a:xfrm>
          <a:prstGeom prst="rect">
            <a:avLst/>
          </a:prstGeom>
          <a:noFill/>
          <a:ln/>
        </p:spPr>
        <p:txBody>
          <a:bodyPr wrap="square" lIns="0" tIns="0" rIns="0" bIns="0" rtlCol="0" anchor="t"/>
          <a:lstStyle/>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T1  Normal request: 4-week plan, dates correct</a:t>
            </a: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T2  Date in the past: system stops and asks</a:t>
            </a: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T3  Under 4 weeks: shorter plan, clear note</a:t>
            </a: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T4  Unreleased title in draft: review marks FIX</a:t>
            </a: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T5  Spammy post: review marks FIX</a:t>
            </a: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T6  Fake claim: review marks FIX</a:t>
            </a: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T7  Export without approval: blocked</a:t>
            </a:r>
            <a:endParaRPr lang="en-US" sz="1500" dirty="0"/>
          </a:p>
        </p:txBody>
      </p:sp>
      <p:sp>
        <p:nvSpPr>
          <p:cNvPr id="8" name="Shape 5"/>
          <p:cNvSpPr/>
          <p:nvPr/>
        </p:nvSpPr>
        <p:spPr>
          <a:xfrm>
            <a:off x="6309360" y="1463040"/>
            <a:ext cx="5303520" cy="4754880"/>
          </a:xfrm>
          <a:prstGeom prst="roundRect">
            <a:avLst>
              <a:gd name="adj" fmla="val 2308"/>
            </a:avLst>
          </a:prstGeom>
          <a:solidFill>
            <a:srgbClr val="FFFFFF"/>
          </a:solidFill>
          <a:ln w="25400">
            <a:solidFill>
              <a:srgbClr val="2E8B6E"/>
            </a:solidFill>
            <a:prstDash val="solid"/>
          </a:ln>
        </p:spPr>
      </p:sp>
      <p:sp>
        <p:nvSpPr>
          <p:cNvPr id="9" name="Shape 6"/>
          <p:cNvSpPr/>
          <p:nvPr/>
        </p:nvSpPr>
        <p:spPr>
          <a:xfrm>
            <a:off x="6309360" y="1463040"/>
            <a:ext cx="5303520" cy="640080"/>
          </a:xfrm>
          <a:prstGeom prst="roundRect">
            <a:avLst>
              <a:gd name="adj" fmla="val 17143"/>
            </a:avLst>
          </a:prstGeom>
          <a:solidFill>
            <a:srgbClr val="2E8B6E"/>
          </a:solidFill>
          <a:ln w="12700">
            <a:solidFill>
              <a:srgbClr val="2E8B6E"/>
            </a:solidFill>
            <a:prstDash val="solid"/>
          </a:ln>
        </p:spPr>
      </p:sp>
      <p:sp>
        <p:nvSpPr>
          <p:cNvPr id="10" name="Text 7"/>
          <p:cNvSpPr txBox="1"/>
          <p:nvPr/>
        </p:nvSpPr>
        <p:spPr>
          <a:xfrm>
            <a:off x="6446520" y="1463040"/>
            <a:ext cx="5029200" cy="6400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Human approval gate</a:t>
            </a:r>
            <a:endParaRPr lang="en-US" sz="2000" dirty="0"/>
          </a:p>
        </p:txBody>
      </p:sp>
      <p:sp>
        <p:nvSpPr>
          <p:cNvPr id="11" name="Text 8"/>
          <p:cNvSpPr txBox="1"/>
          <p:nvPr/>
        </p:nvSpPr>
        <p:spPr>
          <a:xfrm>
            <a:off x="6492240" y="2240280"/>
            <a:ext cx="4937760" cy="3840480"/>
          </a:xfrm>
          <a:prstGeom prst="rect">
            <a:avLst/>
          </a:prstGeom>
          <a:noFill/>
          <a:ln/>
        </p:spPr>
        <p:txBody>
          <a:bodyPr wrap="square" lIns="0" tIns="0" rIns="0" bIns="0" rtlCol="0" anchor="t"/>
          <a:lstStyle/>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Where: after CHECK, before OUTPUT.</a:t>
            </a:r>
            <a:endParaRPr lang="en-US" sz="1500" dirty="0"/>
          </a:p>
          <a:p>
            <a:pPr indent="0" marL="0">
              <a:spcAft>
                <a:spcPts val="600"/>
              </a:spcAft>
              <a:buNone/>
            </a:pP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Why: the posts speak for the artist in public. Mistakes are hard to undo after posting.</a:t>
            </a:r>
            <a:endParaRPr lang="en-US" sz="1500" dirty="0"/>
          </a:p>
          <a:p>
            <a:pPr indent="0" marL="0">
              <a:spcAft>
                <a:spcPts val="600"/>
              </a:spcAft>
              <a:buNone/>
            </a:pP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The human sees the timeline, final posts, review result, and open problems.</a:t>
            </a:r>
            <a:endParaRPr lang="en-US" sz="1500" dirty="0"/>
          </a:p>
          <a:p>
            <a:pPr indent="0" marL="0">
              <a:spcAft>
                <a:spcPts val="600"/>
              </a:spcAft>
              <a:buNone/>
            </a:pP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Choices: APPROVE · REJECT with notes · EDIT.</a:t>
            </a:r>
            <a:endParaRPr lang="en-US" sz="1500" dirty="0"/>
          </a:p>
          <a:p>
            <a:pPr indent="0" marL="0">
              <a:spcAft>
                <a:spcPts val="600"/>
              </a:spcAft>
              <a:buNone/>
            </a:pPr>
            <a:endParaRPr lang="en-US" sz="1500" dirty="0"/>
          </a:p>
          <a:p>
            <a:pPr indent="0" marL="0">
              <a:spcAft>
                <a:spcPts val="600"/>
              </a:spcAft>
              <a:buNone/>
            </a:pPr>
            <a:r>
              <a:rPr lang="en-US" sz="1500" dirty="0">
                <a:solidFill>
                  <a:srgbClr val="1B1A2E"/>
                </a:solidFill>
                <a:latin typeface="Calibri" pitchFamily="34" charset="0"/>
                <a:ea typeface="Calibri" pitchFamily="34" charset="-122"/>
                <a:cs typeface="Calibri" pitchFamily="34" charset="-120"/>
              </a:rPr>
              <a:t>Also asks the human when: 2 rewrites fail, or an input is missing.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A2E"/>
        </a:solidFill>
      </p:bgPr>
    </p:bg>
    <p:spTree>
      <p:nvGrpSpPr>
        <p:cNvPr id="1" name=""/>
        <p:cNvGrpSpPr/>
        <p:nvPr/>
      </p:nvGrpSpPr>
      <p:grpSpPr>
        <a:xfrm>
          <a:off x="0" y="0"/>
          <a:ext cx="0" cy="0"/>
          <a:chOff x="0" y="0"/>
          <a:chExt cx="0" cy="0"/>
        </a:xfrm>
      </p:grpSpPr>
      <p:sp>
        <p:nvSpPr>
          <p:cNvPr id="3" name="Text 0"/>
          <p:cNvSpPr txBox="1"/>
          <p:nvPr/>
        </p:nvSpPr>
        <p:spPr>
          <a:xfrm>
            <a:off x="731520" y="73152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Summary</a:t>
            </a:r>
            <a:endParaRPr lang="en-US" sz="4000" dirty="0"/>
          </a:p>
        </p:txBody>
      </p:sp>
      <p:sp>
        <p:nvSpPr>
          <p:cNvPr id="4" name="Text 1"/>
          <p:cNvSpPr txBox="1"/>
          <p:nvPr/>
        </p:nvSpPr>
        <p:spPr>
          <a:xfrm>
            <a:off x="731520" y="1828800"/>
            <a:ext cx="10515600" cy="347472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3 agents + an Orchestrator that controls the flow</a:t>
            </a:r>
            <a:endParaRPr lang="en-US" sz="2200" dirty="0"/>
          </a:p>
          <a:p>
            <a:pPr marL="342900" indent="-3429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3 SKILL.md files with the same clear structure</a:t>
            </a:r>
            <a:endParaRPr lang="en-US" sz="2200" dirty="0"/>
          </a:p>
          <a:p>
            <a:pPr marL="342900" indent="-3429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A feedback loop: check, fix, check again (max 2)</a:t>
            </a:r>
            <a:endParaRPr lang="en-US" sz="2200" dirty="0"/>
          </a:p>
          <a:p>
            <a:pPr marL="342900" indent="-3429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NIST AI RMF applied: Govern, Map, Measure, Manage</a:t>
            </a:r>
            <a:endParaRPr lang="en-US" sz="2200" dirty="0"/>
          </a:p>
          <a:p>
            <a:pPr marL="342900" indent="-3429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A mandatory human approval gate before anything is exported</a:t>
            </a:r>
            <a:endParaRPr lang="en-US" sz="2200" dirty="0"/>
          </a:p>
          <a:p>
            <a:pPr marL="342900" indent="-3429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Result: a professional comeback campaign that still sounds like the artist</a:t>
            </a:r>
            <a:endParaRPr lang="en-US" sz="2200" dirty="0"/>
          </a:p>
        </p:txBody>
      </p:sp>
      <p:sp>
        <p:nvSpPr>
          <p:cNvPr id="5" name="Text 2"/>
          <p:cNvSpPr txBox="1"/>
          <p:nvPr/>
        </p:nvSpPr>
        <p:spPr>
          <a:xfrm>
            <a:off x="731520" y="5669280"/>
            <a:ext cx="10058400" cy="640080"/>
          </a:xfrm>
          <a:prstGeom prst="rect">
            <a:avLst/>
          </a:prstGeom>
          <a:noFill/>
          <a:ln/>
        </p:spPr>
        <p:txBody>
          <a:bodyPr wrap="square" lIns="0" tIns="0" rIns="0" bIns="0" rtlCol="0" anchor="ctr"/>
          <a:lstStyle/>
          <a:p>
            <a:pPr indent="0" marL="0">
              <a:buNone/>
            </a:pPr>
            <a:r>
              <a:rPr lang="en-US" sz="3000" b="1" dirty="0">
                <a:solidFill>
                  <a:srgbClr val="FF6B5A"/>
                </a:solidFill>
                <a:latin typeface="Georgia" pitchFamily="34" charset="0"/>
                <a:ea typeface="Georgia" pitchFamily="34" charset="-122"/>
                <a:cs typeface="Georgia" pitchFamily="34" charset="-120"/>
              </a:rPr>
              <a:t>Thank you! Questions?</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Independent Artist Comeback Campaign Engine</dc:title>
  <dc:subject>PptxGenJS Presentation</dc:subject>
  <dc:creator>PptxGenJS</dc:creator>
  <cp:lastModifiedBy>PptxGenJS</cp:lastModifiedBy>
  <cp:revision>1</cp:revision>
  <dcterms:created xsi:type="dcterms:W3CDTF">2026-10-20T05:43:10Z</dcterms:created>
  <dcterms:modified xsi:type="dcterms:W3CDTF">2026-10-20T05:43:10Z</dcterms:modified>
</cp:coreProperties>
</file>